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822960" cy="73152"/>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0"/>
            <a:ext cx="10728655" cy="1280160"/>
          </a:xfrm>
          <a:prstGeom prst="rect">
            <a:avLst/>
          </a:prstGeom>
          <a:noFill/>
        </p:spPr>
        <p:txBody>
          <a:bodyPr wrap="square" lIns="0" rIns="0" tIns="0" bIns="0" anchor="t">
            <a:spAutoFit/>
          </a:bodyPr>
          <a:lstStyle/>
          <a:p>
            <a:pPr algn="l">
              <a:lnSpc>
                <a:spcPct val="115000"/>
              </a:lnSpc>
            </a:pPr>
            <a:r>
              <a:rPr sz="4800" b="1">
                <a:solidFill>
                  <a:srgbClr val="1F1F1E"/>
                </a:solidFill>
                <a:latin typeface="Calibri"/>
              </a:rPr>
              <a:t>HR Onboarding Coordination</a:t>
            </a:r>
          </a:p>
        </p:txBody>
      </p:sp>
      <p:sp>
        <p:nvSpPr>
          <p:cNvPr id="5" name="TextBox 4"/>
          <p:cNvSpPr txBox="1"/>
          <p:nvPr/>
        </p:nvSpPr>
        <p:spPr>
          <a:xfrm>
            <a:off x="731520" y="3200400"/>
            <a:ext cx="10728655" cy="731520"/>
          </a:xfrm>
          <a:prstGeom prst="rect">
            <a:avLst/>
          </a:prstGeom>
          <a:noFill/>
        </p:spPr>
        <p:txBody>
          <a:bodyPr wrap="square" lIns="0" rIns="0" tIns="0" bIns="0" anchor="t">
            <a:spAutoFit/>
          </a:bodyPr>
          <a:lstStyle/>
          <a:p>
            <a:pPr algn="l">
              <a:lnSpc>
                <a:spcPct val="115000"/>
              </a:lnSpc>
            </a:pPr>
            <a:r>
              <a:rPr sz="2200" b="0">
                <a:solidFill>
                  <a:srgbClr val="6B6A66"/>
                </a:solidFill>
                <a:latin typeface="Calibri"/>
              </a:rPr>
              <a:t>An agentic approach to a 220-hire-per-year workload</a:t>
            </a:r>
          </a:p>
        </p:txBody>
      </p:sp>
      <p:sp>
        <p:nvSpPr>
          <p:cNvPr id="6" name="TextBox 5"/>
          <p:cNvSpPr txBox="1"/>
          <p:nvPr/>
        </p:nvSpPr>
        <p:spPr>
          <a:xfrm>
            <a:off x="731520" y="5943600"/>
            <a:ext cx="10728655" cy="457200"/>
          </a:xfrm>
          <a:prstGeom prst="rect">
            <a:avLst/>
          </a:prstGeom>
          <a:noFill/>
        </p:spPr>
        <p:txBody>
          <a:bodyPr wrap="square" lIns="0" rIns="0" tIns="0" bIns="0" anchor="t">
            <a:spAutoFit/>
          </a:bodyPr>
          <a:lstStyle/>
          <a:p>
            <a:pPr algn="l">
              <a:lnSpc>
                <a:spcPct val="115000"/>
              </a:lnSpc>
            </a:pPr>
            <a:r>
              <a:rPr sz="1200" b="0">
                <a:solidFill>
                  <a:srgbClr val="6B6A66"/>
                </a:solidFill>
                <a:latin typeface="Calibri"/>
              </a:rPr>
              <a:t>Stakeholder overview  ·  First-draft proposal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728655" cy="320040"/>
          </a:xfrm>
          <a:prstGeom prst="rect">
            <a:avLst/>
          </a:prstGeom>
          <a:noFill/>
        </p:spPr>
        <p:txBody>
          <a:bodyPr wrap="square" lIns="0" rIns="0" tIns="0" bIns="0" anchor="t">
            <a:spAutoFit/>
          </a:bodyPr>
          <a:lstStyle/>
          <a:p>
            <a:pPr algn="l">
              <a:lnSpc>
                <a:spcPct val="115000"/>
              </a:lnSpc>
            </a:pPr>
            <a:r>
              <a:rPr sz="1100" b="1">
                <a:solidFill>
                  <a:srgbClr val="D97757"/>
                </a:solidFill>
                <a:latin typeface="Calibri"/>
              </a:rPr>
              <a:t>THE PROBLEM</a:t>
            </a:r>
          </a:p>
        </p:txBody>
      </p:sp>
      <p:sp>
        <p:nvSpPr>
          <p:cNvPr id="4" name="TextBox 3"/>
          <p:cNvSpPr txBox="1"/>
          <p:nvPr/>
        </p:nvSpPr>
        <p:spPr>
          <a:xfrm>
            <a:off x="731520" y="960120"/>
            <a:ext cx="10728655" cy="822960"/>
          </a:xfrm>
          <a:prstGeom prst="rect">
            <a:avLst/>
          </a:prstGeom>
          <a:noFill/>
        </p:spPr>
        <p:txBody>
          <a:bodyPr wrap="square" lIns="0" rIns="0" tIns="0" bIns="0" anchor="t">
            <a:spAutoFit/>
          </a:bodyPr>
          <a:lstStyle/>
          <a:p>
            <a:pPr algn="l">
              <a:lnSpc>
                <a:spcPct val="115000"/>
              </a:lnSpc>
            </a:pPr>
            <a:r>
              <a:rPr sz="3200" b="1">
                <a:solidFill>
                  <a:srgbClr val="1F1F1E"/>
                </a:solidFill>
                <a:latin typeface="Calibri"/>
              </a:rPr>
              <a:t>Onboarding is a coordination job the team can't keep up with</a:t>
            </a:r>
          </a:p>
        </p:txBody>
      </p:sp>
      <p:cxnSp>
        <p:nvCxnSpPr>
          <p:cNvPr id="5" name="Connector 4"/>
          <p:cNvCxnSpPr/>
          <p:nvPr/>
        </p:nvCxnSpPr>
        <p:spPr>
          <a:xfrm>
            <a:off x="731520" y="1783080"/>
            <a:ext cx="1371600" cy="0"/>
          </a:xfrm>
          <a:prstGeom prst="line">
            <a:avLst/>
          </a:prstGeom>
          <a:ln w="19050">
            <a:solidFill>
              <a:srgbClr val="D9775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2286000"/>
            <a:ext cx="3332378" cy="1097280"/>
          </a:xfrm>
          <a:prstGeom prst="rect">
            <a:avLst/>
          </a:prstGeom>
          <a:noFill/>
        </p:spPr>
        <p:txBody>
          <a:bodyPr wrap="square" lIns="0" rIns="0" tIns="0" bIns="0" anchor="t">
            <a:spAutoFit/>
          </a:bodyPr>
          <a:lstStyle/>
          <a:p>
            <a:pPr algn="l">
              <a:lnSpc>
                <a:spcPct val="115000"/>
              </a:lnSpc>
            </a:pPr>
            <a:r>
              <a:rPr sz="5600" b="1">
                <a:solidFill>
                  <a:srgbClr val="D97757"/>
                </a:solidFill>
                <a:latin typeface="Calibri"/>
              </a:rPr>
              <a:t>220+</a:t>
            </a:r>
          </a:p>
        </p:txBody>
      </p:sp>
      <p:sp>
        <p:nvSpPr>
          <p:cNvPr id="7" name="TextBox 6"/>
          <p:cNvSpPr txBox="1"/>
          <p:nvPr/>
        </p:nvSpPr>
        <p:spPr>
          <a:xfrm>
            <a:off x="731520" y="3474720"/>
            <a:ext cx="3332378" cy="731520"/>
          </a:xfrm>
          <a:prstGeom prst="rect">
            <a:avLst/>
          </a:prstGeom>
          <a:noFill/>
        </p:spPr>
        <p:txBody>
          <a:bodyPr wrap="square" lIns="0" rIns="0" tIns="0" bIns="0" anchor="t">
            <a:spAutoFit/>
          </a:bodyPr>
          <a:lstStyle/>
          <a:p>
            <a:pPr algn="l">
              <a:lnSpc>
                <a:spcPct val="115000"/>
              </a:lnSpc>
            </a:pPr>
            <a:r>
              <a:rPr sz="1600" b="0">
                <a:solidFill>
                  <a:srgbClr val="1F1F1E"/>
                </a:solidFill>
                <a:latin typeface="Calibri"/>
              </a:rPr>
              <a:t>new hires per year</a:t>
            </a:r>
          </a:p>
        </p:txBody>
      </p:sp>
      <p:sp>
        <p:nvSpPr>
          <p:cNvPr id="8" name="TextBox 7"/>
          <p:cNvSpPr txBox="1"/>
          <p:nvPr/>
        </p:nvSpPr>
        <p:spPr>
          <a:xfrm>
            <a:off x="4429658" y="2286000"/>
            <a:ext cx="3332378" cy="1097280"/>
          </a:xfrm>
          <a:prstGeom prst="rect">
            <a:avLst/>
          </a:prstGeom>
          <a:noFill/>
        </p:spPr>
        <p:txBody>
          <a:bodyPr wrap="square" lIns="0" rIns="0" tIns="0" bIns="0" anchor="t">
            <a:spAutoFit/>
          </a:bodyPr>
          <a:lstStyle/>
          <a:p>
            <a:pPr algn="l">
              <a:lnSpc>
                <a:spcPct val="115000"/>
              </a:lnSpc>
            </a:pPr>
            <a:r>
              <a:rPr sz="5600" b="1">
                <a:solidFill>
                  <a:srgbClr val="D97757"/>
                </a:solidFill>
                <a:latin typeface="Calibri"/>
              </a:rPr>
              <a:t>~40</a:t>
            </a:r>
          </a:p>
        </p:txBody>
      </p:sp>
      <p:sp>
        <p:nvSpPr>
          <p:cNvPr id="9" name="TextBox 8"/>
          <p:cNvSpPr txBox="1"/>
          <p:nvPr/>
        </p:nvSpPr>
        <p:spPr>
          <a:xfrm>
            <a:off x="4429658" y="3474720"/>
            <a:ext cx="3332378" cy="731520"/>
          </a:xfrm>
          <a:prstGeom prst="rect">
            <a:avLst/>
          </a:prstGeom>
          <a:noFill/>
        </p:spPr>
        <p:txBody>
          <a:bodyPr wrap="square" lIns="0" rIns="0" tIns="0" bIns="0" anchor="t">
            <a:spAutoFit/>
          </a:bodyPr>
          <a:lstStyle/>
          <a:p>
            <a:pPr algn="l">
              <a:lnSpc>
                <a:spcPct val="115000"/>
              </a:lnSpc>
            </a:pPr>
            <a:r>
              <a:rPr sz="1600" b="0">
                <a:solidFill>
                  <a:srgbClr val="1F1F1E"/>
                </a:solidFill>
                <a:latin typeface="Calibri"/>
              </a:rPr>
              <a:t>tasks per onboarding, across 2 weeks</a:t>
            </a:r>
          </a:p>
        </p:txBody>
      </p:sp>
      <p:sp>
        <p:nvSpPr>
          <p:cNvPr id="10" name="TextBox 9"/>
          <p:cNvSpPr txBox="1"/>
          <p:nvPr/>
        </p:nvSpPr>
        <p:spPr>
          <a:xfrm>
            <a:off x="8127796" y="2286000"/>
            <a:ext cx="3332378" cy="1097280"/>
          </a:xfrm>
          <a:prstGeom prst="rect">
            <a:avLst/>
          </a:prstGeom>
          <a:noFill/>
        </p:spPr>
        <p:txBody>
          <a:bodyPr wrap="square" lIns="0" rIns="0" tIns="0" bIns="0" anchor="t">
            <a:spAutoFit/>
          </a:bodyPr>
          <a:lstStyle/>
          <a:p>
            <a:pPr algn="l">
              <a:lnSpc>
                <a:spcPct val="115000"/>
              </a:lnSpc>
            </a:pPr>
            <a:r>
              <a:rPr sz="5600" b="1">
                <a:solidFill>
                  <a:srgbClr val="D97757"/>
                </a:solidFill>
                <a:latin typeface="Calibri"/>
              </a:rPr>
              <a:t>6</a:t>
            </a:r>
          </a:p>
        </p:txBody>
      </p:sp>
      <p:sp>
        <p:nvSpPr>
          <p:cNvPr id="11" name="TextBox 10"/>
          <p:cNvSpPr txBox="1"/>
          <p:nvPr/>
        </p:nvSpPr>
        <p:spPr>
          <a:xfrm>
            <a:off x="8127796" y="3474720"/>
            <a:ext cx="3332378" cy="731520"/>
          </a:xfrm>
          <a:prstGeom prst="rect">
            <a:avLst/>
          </a:prstGeom>
          <a:noFill/>
        </p:spPr>
        <p:txBody>
          <a:bodyPr wrap="square" lIns="0" rIns="0" tIns="0" bIns="0" anchor="t">
            <a:spAutoFit/>
          </a:bodyPr>
          <a:lstStyle/>
          <a:p>
            <a:pPr algn="l">
              <a:lnSpc>
                <a:spcPct val="115000"/>
              </a:lnSpc>
            </a:pPr>
            <a:r>
              <a:rPr sz="1600" b="0">
                <a:solidFill>
                  <a:srgbClr val="1F1F1E"/>
                </a:solidFill>
                <a:latin typeface="Calibri"/>
              </a:rPr>
              <a:t>separate systems per onboarding</a:t>
            </a:r>
          </a:p>
        </p:txBody>
      </p:sp>
      <p:sp>
        <p:nvSpPr>
          <p:cNvPr id="12" name="TextBox 11"/>
          <p:cNvSpPr txBox="1"/>
          <p:nvPr/>
        </p:nvSpPr>
        <p:spPr>
          <a:xfrm>
            <a:off x="731520" y="4754880"/>
            <a:ext cx="10728655" cy="1371600"/>
          </a:xfrm>
          <a:prstGeom prst="rect">
            <a:avLst/>
          </a:prstGeom>
          <a:noFill/>
        </p:spPr>
        <p:txBody>
          <a:bodyPr wrap="square" lIns="0" rIns="0" tIns="0" bIns="0" anchor="t">
            <a:spAutoFit/>
          </a:bodyPr>
          <a:lstStyle/>
          <a:p>
            <a:pPr algn="l">
              <a:lnSpc>
                <a:spcPct val="115000"/>
              </a:lnSpc>
            </a:pPr>
            <a:r>
              <a:rPr sz="1600" b="0">
                <a:solidFill>
                  <a:srgbClr val="6B6A66"/>
                </a:solidFill>
                <a:latin typeface="Calibri"/>
              </a:rPr>
              <a:t>“Most of this is paperwork my team should not be touching, but every time we try to automate, something falls through the cracks because the edge cases never look the same twice.”</a:t>
            </a:r>
          </a:p>
        </p:txBody>
      </p:sp>
      <p:sp>
        <p:nvSpPr>
          <p:cNvPr id="13" name="TextBox 12"/>
          <p:cNvSpPr txBox="1"/>
          <p:nvPr/>
        </p:nvSpPr>
        <p:spPr>
          <a:xfrm>
            <a:off x="731520" y="5852160"/>
            <a:ext cx="10728655" cy="365760"/>
          </a:xfrm>
          <a:prstGeom prst="rect">
            <a:avLst/>
          </a:prstGeom>
          <a:noFill/>
        </p:spPr>
        <p:txBody>
          <a:bodyPr wrap="square" lIns="0" rIns="0" tIns="0" bIns="0" anchor="t">
            <a:spAutoFit/>
          </a:bodyPr>
          <a:lstStyle/>
          <a:p>
            <a:pPr algn="l">
              <a:lnSpc>
                <a:spcPct val="115000"/>
              </a:lnSpc>
            </a:pPr>
            <a:r>
              <a:rPr sz="1200" b="0">
                <a:solidFill>
                  <a:srgbClr val="6B6A66"/>
                </a:solidFill>
                <a:latin typeface="Calibri"/>
              </a:rPr>
              <a:t>— HR Ops lead, stated in scenario</a:t>
            </a:r>
          </a:p>
        </p:txBody>
      </p:sp>
      <p:sp>
        <p:nvSpPr>
          <p:cNvPr id="14" name="TextBox 13"/>
          <p:cNvSpPr txBox="1"/>
          <p:nvPr/>
        </p:nvSpPr>
        <p:spPr>
          <a:xfrm>
            <a:off x="731520" y="6446520"/>
            <a:ext cx="7315200" cy="274320"/>
          </a:xfrm>
          <a:prstGeom prst="rect">
            <a:avLst/>
          </a:prstGeom>
          <a:noFill/>
        </p:spPr>
        <p:txBody>
          <a:bodyPr wrap="square" lIns="0" rIns="0" tIns="0" bIns="0" anchor="t">
            <a:spAutoFit/>
          </a:bodyPr>
          <a:lstStyle/>
          <a:p>
            <a:pPr algn="l">
              <a:lnSpc>
                <a:spcPct val="115000"/>
              </a:lnSpc>
            </a:pPr>
            <a:r>
              <a:rPr sz="1000" b="0">
                <a:solidFill>
                  <a:srgbClr val="6B6A66"/>
                </a:solidFill>
                <a:latin typeface="Calibri"/>
              </a:rPr>
              <a:t>Source: Scenario 1, Week 1 Practice Scenario Pool</a:t>
            </a:r>
          </a:p>
        </p:txBody>
      </p:sp>
      <p:sp>
        <p:nvSpPr>
          <p:cNvPr id="15" name="TextBox 14"/>
          <p:cNvSpPr txBox="1"/>
          <p:nvPr/>
        </p:nvSpPr>
        <p:spPr>
          <a:xfrm>
            <a:off x="11094415" y="6446520"/>
            <a:ext cx="822960" cy="274320"/>
          </a:xfrm>
          <a:prstGeom prst="rect">
            <a:avLst/>
          </a:prstGeom>
          <a:noFill/>
        </p:spPr>
        <p:txBody>
          <a:bodyPr wrap="square" lIns="0" rIns="0" tIns="0" bIns="0" anchor="t">
            <a:spAutoFit/>
          </a:bodyPr>
          <a:lstStyle/>
          <a:p>
            <a:pPr algn="r">
              <a:lnSpc>
                <a:spcPct val="115000"/>
              </a:lnSpc>
            </a:pPr>
            <a:r>
              <a:rPr sz="1000" b="0">
                <a:solidFill>
                  <a:srgbClr val="6B6A66"/>
                </a:solidFill>
                <a:latin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728655" cy="320040"/>
          </a:xfrm>
          <a:prstGeom prst="rect">
            <a:avLst/>
          </a:prstGeom>
          <a:noFill/>
        </p:spPr>
        <p:txBody>
          <a:bodyPr wrap="square" lIns="0" rIns="0" tIns="0" bIns="0" anchor="t">
            <a:spAutoFit/>
          </a:bodyPr>
          <a:lstStyle/>
          <a:p>
            <a:pPr algn="l">
              <a:lnSpc>
                <a:spcPct val="115000"/>
              </a:lnSpc>
            </a:pPr>
            <a:r>
              <a:rPr sz="1100" b="1">
                <a:solidFill>
                  <a:srgbClr val="D97757"/>
                </a:solidFill>
                <a:latin typeface="Calibri"/>
              </a:rPr>
              <a:t>WHY AGENTIC, WHY NOW</a:t>
            </a:r>
          </a:p>
        </p:txBody>
      </p:sp>
      <p:sp>
        <p:nvSpPr>
          <p:cNvPr id="4" name="TextBox 3"/>
          <p:cNvSpPr txBox="1"/>
          <p:nvPr/>
        </p:nvSpPr>
        <p:spPr>
          <a:xfrm>
            <a:off x="731520" y="960120"/>
            <a:ext cx="10728655" cy="822960"/>
          </a:xfrm>
          <a:prstGeom prst="rect">
            <a:avLst/>
          </a:prstGeom>
          <a:noFill/>
        </p:spPr>
        <p:txBody>
          <a:bodyPr wrap="square" lIns="0" rIns="0" tIns="0" bIns="0" anchor="t">
            <a:spAutoFit/>
          </a:bodyPr>
          <a:lstStyle/>
          <a:p>
            <a:pPr algn="l">
              <a:lnSpc>
                <a:spcPct val="115000"/>
              </a:lnSpc>
            </a:pPr>
            <a:r>
              <a:rPr sz="3200" b="1">
                <a:solidFill>
                  <a:srgbClr val="1F1F1E"/>
                </a:solidFill>
                <a:latin typeface="Calibri"/>
              </a:rPr>
              <a:t>The shape of the work fits what agents do well — with limits</a:t>
            </a:r>
          </a:p>
        </p:txBody>
      </p:sp>
      <p:cxnSp>
        <p:nvCxnSpPr>
          <p:cNvPr id="5" name="Connector 4"/>
          <p:cNvCxnSpPr/>
          <p:nvPr/>
        </p:nvCxnSpPr>
        <p:spPr>
          <a:xfrm>
            <a:off x="731520" y="1783080"/>
            <a:ext cx="1371600" cy="0"/>
          </a:xfrm>
          <a:prstGeom prst="line">
            <a:avLst/>
          </a:prstGeom>
          <a:ln w="19050">
            <a:solidFill>
              <a:srgbClr val="D9775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2103120"/>
            <a:ext cx="5090007" cy="365760"/>
          </a:xfrm>
          <a:prstGeom prst="rect">
            <a:avLst/>
          </a:prstGeom>
          <a:noFill/>
        </p:spPr>
        <p:txBody>
          <a:bodyPr wrap="square" lIns="0" rIns="0" tIns="0" bIns="0" anchor="t">
            <a:spAutoFit/>
          </a:bodyPr>
          <a:lstStyle/>
          <a:p>
            <a:pPr algn="l">
              <a:lnSpc>
                <a:spcPct val="115000"/>
              </a:lnSpc>
            </a:pPr>
            <a:r>
              <a:rPr sz="1100" b="1">
                <a:solidFill>
                  <a:srgbClr val="D97757"/>
                </a:solidFill>
                <a:latin typeface="Calibri"/>
              </a:rPr>
              <a:t>WHAT FITS</a:t>
            </a:r>
          </a:p>
        </p:txBody>
      </p:sp>
      <p:sp>
        <p:nvSpPr>
          <p:cNvPr id="7" name="TextBox 6"/>
          <p:cNvSpPr txBox="1"/>
          <p:nvPr/>
        </p:nvSpPr>
        <p:spPr>
          <a:xfrm>
            <a:off x="731520" y="2560320"/>
            <a:ext cx="5090007" cy="4114800"/>
          </a:xfrm>
          <a:prstGeom prst="rect">
            <a:avLst/>
          </a:prstGeom>
          <a:noFill/>
        </p:spPr>
        <p:txBody>
          <a:bodyPr wrap="square" lIns="0" rIns="0" tIns="0" bIns="0">
            <a:spAutoFit/>
          </a:bodyPr>
          <a:lstStyle/>
          <a:p>
            <a:pPr algn="l">
              <a:lnSpc>
                <a:spcPct val="135000"/>
              </a:lnSpc>
              <a:spcAft>
                <a:spcPts val="1000"/>
              </a:spcAft>
            </a:pPr>
            <a:r>
              <a:rPr sz="1500" b="1">
                <a:solidFill>
                  <a:srgbClr val="D97757"/>
                </a:solidFill>
                <a:latin typeface="Calibri"/>
              </a:rPr>
              <a:t>—   </a:t>
            </a:r>
            <a:r>
              <a:rPr sz="1500">
                <a:solidFill>
                  <a:srgbClr val="1F1F1E"/>
                </a:solidFill>
                <a:latin typeface="Calibri"/>
              </a:rPr>
              <a:t>~85% of tasks are routine coordination — moving data between known systems.</a:t>
            </a:r>
          </a:p>
          <a:p>
            <a:pPr algn="l">
              <a:lnSpc>
                <a:spcPct val="135000"/>
              </a:lnSpc>
              <a:spcAft>
                <a:spcPts val="1000"/>
              </a:spcAft>
            </a:pPr>
            <a:r>
              <a:rPr sz="1500" b="1">
                <a:solidFill>
                  <a:srgbClr val="D97757"/>
                </a:solidFill>
                <a:latin typeface="Calibri"/>
              </a:rPr>
              <a:t>—   </a:t>
            </a:r>
            <a:r>
              <a:rPr sz="1500">
                <a:solidFill>
                  <a:srgbClr val="1F1F1E"/>
                </a:solidFill>
                <a:latin typeface="Calibri"/>
              </a:rPr>
              <a:t>~7,480 routine tasks per year. At that scale, a 3-person team cannot absorb the load.</a:t>
            </a:r>
          </a:p>
          <a:p>
            <a:pPr algn="l">
              <a:lnSpc>
                <a:spcPct val="135000"/>
              </a:lnSpc>
              <a:spcAft>
                <a:spcPts val="1000"/>
              </a:spcAft>
            </a:pPr>
            <a:r>
              <a:rPr sz="1500" b="1">
                <a:solidFill>
                  <a:srgbClr val="D97757"/>
                </a:solidFill>
                <a:latin typeface="Calibri"/>
              </a:rPr>
              <a:t>—   </a:t>
            </a:r>
            <a:r>
              <a:rPr sz="1500">
                <a:solidFill>
                  <a:srgbClr val="1F1F1E"/>
                </a:solidFill>
                <a:latin typeface="Calibri"/>
              </a:rPr>
              <a:t>Tasks are rule-governed: IT tickets, benefits triggers, training assignments, scheduling.</a:t>
            </a:r>
          </a:p>
        </p:txBody>
      </p:sp>
      <p:sp>
        <p:nvSpPr>
          <p:cNvPr id="8" name="TextBox 7"/>
          <p:cNvSpPr txBox="1"/>
          <p:nvPr/>
        </p:nvSpPr>
        <p:spPr>
          <a:xfrm>
            <a:off x="6370167" y="2103120"/>
            <a:ext cx="5090007" cy="365760"/>
          </a:xfrm>
          <a:prstGeom prst="rect">
            <a:avLst/>
          </a:prstGeom>
          <a:noFill/>
        </p:spPr>
        <p:txBody>
          <a:bodyPr wrap="square" lIns="0" rIns="0" tIns="0" bIns="0" anchor="t">
            <a:spAutoFit/>
          </a:bodyPr>
          <a:lstStyle/>
          <a:p>
            <a:pPr algn="l">
              <a:lnSpc>
                <a:spcPct val="115000"/>
              </a:lnSpc>
            </a:pPr>
            <a:r>
              <a:rPr sz="1100" b="1">
                <a:solidFill>
                  <a:srgbClr val="D97757"/>
                </a:solidFill>
                <a:latin typeface="Calibri"/>
              </a:rPr>
              <a:t>WHAT DOESN'T</a:t>
            </a:r>
          </a:p>
        </p:txBody>
      </p:sp>
      <p:sp>
        <p:nvSpPr>
          <p:cNvPr id="9" name="TextBox 8"/>
          <p:cNvSpPr txBox="1"/>
          <p:nvPr/>
        </p:nvSpPr>
        <p:spPr>
          <a:xfrm>
            <a:off x="6370167" y="2560320"/>
            <a:ext cx="5090007" cy="4114800"/>
          </a:xfrm>
          <a:prstGeom prst="rect">
            <a:avLst/>
          </a:prstGeom>
          <a:noFill/>
        </p:spPr>
        <p:txBody>
          <a:bodyPr wrap="square" lIns="0" rIns="0" tIns="0" bIns="0">
            <a:spAutoFit/>
          </a:bodyPr>
          <a:lstStyle/>
          <a:p>
            <a:pPr algn="l">
              <a:lnSpc>
                <a:spcPct val="135000"/>
              </a:lnSpc>
              <a:spcAft>
                <a:spcPts val="1000"/>
              </a:spcAft>
            </a:pPr>
            <a:r>
              <a:rPr sz="1500" b="1">
                <a:solidFill>
                  <a:srgbClr val="D97757"/>
                </a:solidFill>
                <a:latin typeface="Calibri"/>
              </a:rPr>
              <a:t>—   </a:t>
            </a:r>
            <a:r>
              <a:rPr sz="1500">
                <a:solidFill>
                  <a:srgbClr val="1F1F1E"/>
                </a:solidFill>
                <a:latin typeface="Calibri"/>
              </a:rPr>
              <a:t>~15% of tasks are judgment calls — classification, buddy norms, I-9 hold decisions.</a:t>
            </a:r>
          </a:p>
          <a:p>
            <a:pPr algn="l">
              <a:lnSpc>
                <a:spcPct val="135000"/>
              </a:lnSpc>
              <a:spcAft>
                <a:spcPts val="1000"/>
              </a:spcAft>
            </a:pPr>
            <a:r>
              <a:rPr sz="1500" b="1">
                <a:solidFill>
                  <a:srgbClr val="D97757"/>
                </a:solidFill>
                <a:latin typeface="Calibri"/>
              </a:rPr>
              <a:t>—   </a:t>
            </a:r>
            <a:r>
              <a:rPr sz="1500">
                <a:solidFill>
                  <a:srgbClr val="1F1F1E"/>
                </a:solidFill>
                <a:latin typeface="Calibri"/>
              </a:rPr>
              <a:t>These carry legal, compliance, and trust risk if an agent decides silently.</a:t>
            </a:r>
          </a:p>
          <a:p>
            <a:pPr algn="l">
              <a:lnSpc>
                <a:spcPct val="135000"/>
              </a:lnSpc>
              <a:spcAft>
                <a:spcPts val="1000"/>
              </a:spcAft>
            </a:pPr>
            <a:r>
              <a:rPr sz="1500" b="1">
                <a:solidFill>
                  <a:srgbClr val="D97757"/>
                </a:solidFill>
                <a:latin typeface="Calibri"/>
              </a:rPr>
              <a:t>—   </a:t>
            </a:r>
            <a:r>
              <a:rPr sz="1500">
                <a:solidFill>
                  <a:srgbClr val="1F1F1E"/>
                </a:solidFill>
                <a:latin typeface="Calibri"/>
              </a:rPr>
              <a:t>They must stay human-led. The boundary between routine and judgment is the design.</a:t>
            </a:r>
          </a:p>
        </p:txBody>
      </p:sp>
      <p:sp>
        <p:nvSpPr>
          <p:cNvPr id="10" name="TextBox 9"/>
          <p:cNvSpPr txBox="1"/>
          <p:nvPr/>
        </p:nvSpPr>
        <p:spPr>
          <a:xfrm>
            <a:off x="731520" y="6446520"/>
            <a:ext cx="7315200" cy="274320"/>
          </a:xfrm>
          <a:prstGeom prst="rect">
            <a:avLst/>
          </a:prstGeom>
          <a:noFill/>
        </p:spPr>
        <p:txBody>
          <a:bodyPr wrap="square" lIns="0" rIns="0" tIns="0" bIns="0" anchor="t">
            <a:spAutoFit/>
          </a:bodyPr>
          <a:lstStyle/>
          <a:p>
            <a:pPr algn="l">
              <a:lnSpc>
                <a:spcPct val="115000"/>
              </a:lnSpc>
            </a:pPr>
            <a:r>
              <a:rPr sz="1000" b="0">
                <a:solidFill>
                  <a:srgbClr val="6B6A66"/>
                </a:solidFill>
                <a:latin typeface="Calibri"/>
              </a:rPr>
              <a:t>85 / 15 split as cited in the scenario; not yet validated with live workflow data.</a:t>
            </a:r>
          </a:p>
        </p:txBody>
      </p:sp>
      <p:sp>
        <p:nvSpPr>
          <p:cNvPr id="11" name="TextBox 10"/>
          <p:cNvSpPr txBox="1"/>
          <p:nvPr/>
        </p:nvSpPr>
        <p:spPr>
          <a:xfrm>
            <a:off x="11094415" y="6446520"/>
            <a:ext cx="822960" cy="274320"/>
          </a:xfrm>
          <a:prstGeom prst="rect">
            <a:avLst/>
          </a:prstGeom>
          <a:noFill/>
        </p:spPr>
        <p:txBody>
          <a:bodyPr wrap="square" lIns="0" rIns="0" tIns="0" bIns="0" anchor="t">
            <a:spAutoFit/>
          </a:bodyPr>
          <a:lstStyle/>
          <a:p>
            <a:pPr algn="r">
              <a:lnSpc>
                <a:spcPct val="115000"/>
              </a:lnSpc>
            </a:pPr>
            <a:r>
              <a:rPr sz="1000" b="0">
                <a:solidFill>
                  <a:srgbClr val="6B6A66"/>
                </a:solidFill>
                <a:latin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728655" cy="320040"/>
          </a:xfrm>
          <a:prstGeom prst="rect">
            <a:avLst/>
          </a:prstGeom>
          <a:noFill/>
        </p:spPr>
        <p:txBody>
          <a:bodyPr wrap="square" lIns="0" rIns="0" tIns="0" bIns="0" anchor="t">
            <a:spAutoFit/>
          </a:bodyPr>
          <a:lstStyle/>
          <a:p>
            <a:pPr algn="l">
              <a:lnSpc>
                <a:spcPct val="115000"/>
              </a:lnSpc>
            </a:pPr>
            <a:r>
              <a:rPr sz="1100" b="1">
                <a:solidFill>
                  <a:srgbClr val="D97757"/>
                </a:solidFill>
                <a:latin typeface="Calibri"/>
              </a:rPr>
              <a:t>THE PROPOSAL</a:t>
            </a:r>
          </a:p>
        </p:txBody>
      </p:sp>
      <p:sp>
        <p:nvSpPr>
          <p:cNvPr id="4" name="TextBox 3"/>
          <p:cNvSpPr txBox="1"/>
          <p:nvPr/>
        </p:nvSpPr>
        <p:spPr>
          <a:xfrm>
            <a:off x="731520" y="960120"/>
            <a:ext cx="10728655" cy="822960"/>
          </a:xfrm>
          <a:prstGeom prst="rect">
            <a:avLst/>
          </a:prstGeom>
          <a:noFill/>
        </p:spPr>
        <p:txBody>
          <a:bodyPr wrap="square" lIns="0" rIns="0" tIns="0" bIns="0" anchor="t">
            <a:spAutoFit/>
          </a:bodyPr>
          <a:lstStyle/>
          <a:p>
            <a:pPr algn="l">
              <a:lnSpc>
                <a:spcPct val="115000"/>
              </a:lnSpc>
            </a:pPr>
            <a:r>
              <a:rPr sz="3200" b="1">
                <a:solidFill>
                  <a:srgbClr val="1F1F1E"/>
                </a:solidFill>
                <a:latin typeface="Calibri"/>
              </a:rPr>
              <a:t>Three capabilities, one delegation boundary</a:t>
            </a:r>
          </a:p>
        </p:txBody>
      </p:sp>
      <p:cxnSp>
        <p:nvCxnSpPr>
          <p:cNvPr id="5" name="Connector 4"/>
          <p:cNvCxnSpPr/>
          <p:nvPr/>
        </p:nvCxnSpPr>
        <p:spPr>
          <a:xfrm>
            <a:off x="731520" y="1783080"/>
            <a:ext cx="1371600" cy="0"/>
          </a:xfrm>
          <a:prstGeom prst="line">
            <a:avLst/>
          </a:prstGeom>
          <a:ln w="19050">
            <a:solidFill>
              <a:srgbClr val="D9775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2103120"/>
            <a:ext cx="731520" cy="1280160"/>
          </a:xfrm>
          <a:prstGeom prst="rect">
            <a:avLst/>
          </a:prstGeom>
          <a:noFill/>
        </p:spPr>
        <p:txBody>
          <a:bodyPr wrap="square" lIns="0" rIns="0" tIns="0" bIns="0" anchor="t">
            <a:spAutoFit/>
          </a:bodyPr>
          <a:lstStyle/>
          <a:p>
            <a:pPr algn="l">
              <a:lnSpc>
                <a:spcPct val="115000"/>
              </a:lnSpc>
            </a:pPr>
            <a:r>
              <a:rPr sz="4400" b="1">
                <a:solidFill>
                  <a:srgbClr val="D97757"/>
                </a:solidFill>
                <a:latin typeface="Calibri"/>
              </a:rPr>
              <a:t>1</a:t>
            </a:r>
          </a:p>
        </p:txBody>
      </p:sp>
      <p:sp>
        <p:nvSpPr>
          <p:cNvPr id="7" name="TextBox 6"/>
          <p:cNvSpPr txBox="1"/>
          <p:nvPr/>
        </p:nvSpPr>
        <p:spPr>
          <a:xfrm>
            <a:off x="1554480" y="2103120"/>
            <a:ext cx="9905695" cy="365760"/>
          </a:xfrm>
          <a:prstGeom prst="rect">
            <a:avLst/>
          </a:prstGeom>
          <a:noFill/>
        </p:spPr>
        <p:txBody>
          <a:bodyPr wrap="square" lIns="0" rIns="0" tIns="0" bIns="0" anchor="t">
            <a:spAutoFit/>
          </a:bodyPr>
          <a:lstStyle/>
          <a:p>
            <a:pPr algn="l">
              <a:lnSpc>
                <a:spcPct val="115000"/>
              </a:lnSpc>
            </a:pPr>
            <a:r>
              <a:rPr sz="1800" b="1">
                <a:solidFill>
                  <a:srgbClr val="1F1F1E"/>
                </a:solidFill>
                <a:latin typeface="Calibri"/>
              </a:rPr>
              <a:t>Onboarding Orchestrator</a:t>
            </a:r>
          </a:p>
        </p:txBody>
      </p:sp>
      <p:sp>
        <p:nvSpPr>
          <p:cNvPr id="8" name="TextBox 7"/>
          <p:cNvSpPr txBox="1"/>
          <p:nvPr/>
        </p:nvSpPr>
        <p:spPr>
          <a:xfrm>
            <a:off x="1554480" y="2514600"/>
            <a:ext cx="9905695" cy="822960"/>
          </a:xfrm>
          <a:prstGeom prst="rect">
            <a:avLst/>
          </a:prstGeom>
          <a:noFill/>
        </p:spPr>
        <p:txBody>
          <a:bodyPr wrap="square" lIns="0" rIns="0" tIns="0" bIns="0" anchor="t">
            <a:spAutoFit/>
          </a:bodyPr>
          <a:lstStyle/>
          <a:p>
            <a:pPr algn="l">
              <a:lnSpc>
                <a:spcPct val="135000"/>
              </a:lnSpc>
            </a:pPr>
            <a:r>
              <a:rPr sz="1300" b="0">
                <a:solidFill>
                  <a:srgbClr val="6B6A66"/>
                </a:solidFill>
                <a:latin typeface="Calibri"/>
              </a:rPr>
              <a:t>Creates the onboarding record per hire, spawns the ~40 tasks, drives each to completion or to a human when judgment is required.</a:t>
            </a:r>
          </a:p>
        </p:txBody>
      </p:sp>
      <p:sp>
        <p:nvSpPr>
          <p:cNvPr id="9" name="TextBox 8"/>
          <p:cNvSpPr txBox="1"/>
          <p:nvPr/>
        </p:nvSpPr>
        <p:spPr>
          <a:xfrm>
            <a:off x="731520" y="3520440"/>
            <a:ext cx="731520" cy="1280160"/>
          </a:xfrm>
          <a:prstGeom prst="rect">
            <a:avLst/>
          </a:prstGeom>
          <a:noFill/>
        </p:spPr>
        <p:txBody>
          <a:bodyPr wrap="square" lIns="0" rIns="0" tIns="0" bIns="0" anchor="t">
            <a:spAutoFit/>
          </a:bodyPr>
          <a:lstStyle/>
          <a:p>
            <a:pPr algn="l">
              <a:lnSpc>
                <a:spcPct val="115000"/>
              </a:lnSpc>
            </a:pPr>
            <a:r>
              <a:rPr sz="4400" b="1">
                <a:solidFill>
                  <a:srgbClr val="D97757"/>
                </a:solidFill>
                <a:latin typeface="Calibri"/>
              </a:rPr>
              <a:t>2</a:t>
            </a:r>
          </a:p>
        </p:txBody>
      </p:sp>
      <p:sp>
        <p:nvSpPr>
          <p:cNvPr id="10" name="TextBox 9"/>
          <p:cNvSpPr txBox="1"/>
          <p:nvPr/>
        </p:nvSpPr>
        <p:spPr>
          <a:xfrm>
            <a:off x="1554480" y="3520440"/>
            <a:ext cx="9905695" cy="365760"/>
          </a:xfrm>
          <a:prstGeom prst="rect">
            <a:avLst/>
          </a:prstGeom>
          <a:noFill/>
        </p:spPr>
        <p:txBody>
          <a:bodyPr wrap="square" lIns="0" rIns="0" tIns="0" bIns="0" anchor="t">
            <a:spAutoFit/>
          </a:bodyPr>
          <a:lstStyle/>
          <a:p>
            <a:pPr algn="l">
              <a:lnSpc>
                <a:spcPct val="115000"/>
              </a:lnSpc>
            </a:pPr>
            <a:r>
              <a:rPr sz="1800" b="1">
                <a:solidFill>
                  <a:srgbClr val="1F1F1E"/>
                </a:solidFill>
                <a:latin typeface="Calibri"/>
              </a:rPr>
              <a:t>Buddy Match Proposer</a:t>
            </a:r>
          </a:p>
        </p:txBody>
      </p:sp>
      <p:sp>
        <p:nvSpPr>
          <p:cNvPr id="11" name="TextBox 10"/>
          <p:cNvSpPr txBox="1"/>
          <p:nvPr/>
        </p:nvSpPr>
        <p:spPr>
          <a:xfrm>
            <a:off x="1554480" y="3931920"/>
            <a:ext cx="9905695" cy="822960"/>
          </a:xfrm>
          <a:prstGeom prst="rect">
            <a:avLst/>
          </a:prstGeom>
          <a:noFill/>
        </p:spPr>
        <p:txBody>
          <a:bodyPr wrap="square" lIns="0" rIns="0" tIns="0" bIns="0" anchor="t">
            <a:spAutoFit/>
          </a:bodyPr>
          <a:lstStyle/>
          <a:p>
            <a:pPr algn="l">
              <a:lnSpc>
                <a:spcPct val="135000"/>
              </a:lnSpc>
            </a:pPr>
            <a:r>
              <a:rPr sz="1300" b="0">
                <a:solidFill>
                  <a:srgbClr val="6B6A66"/>
                </a:solidFill>
                <a:latin typeface="Calibri"/>
              </a:rPr>
              <a:t>Proposes up to 5 candidate buddies with ranked rationale. HR Ops confirms. The agent never assigns on its own.</a:t>
            </a:r>
          </a:p>
        </p:txBody>
      </p:sp>
      <p:sp>
        <p:nvSpPr>
          <p:cNvPr id="12" name="TextBox 11"/>
          <p:cNvSpPr txBox="1"/>
          <p:nvPr/>
        </p:nvSpPr>
        <p:spPr>
          <a:xfrm>
            <a:off x="731520" y="4937760"/>
            <a:ext cx="731520" cy="1280160"/>
          </a:xfrm>
          <a:prstGeom prst="rect">
            <a:avLst/>
          </a:prstGeom>
          <a:noFill/>
        </p:spPr>
        <p:txBody>
          <a:bodyPr wrap="square" lIns="0" rIns="0" tIns="0" bIns="0" anchor="t">
            <a:spAutoFit/>
          </a:bodyPr>
          <a:lstStyle/>
          <a:p>
            <a:pPr algn="l">
              <a:lnSpc>
                <a:spcPct val="115000"/>
              </a:lnSpc>
            </a:pPr>
            <a:r>
              <a:rPr sz="4400" b="1">
                <a:solidFill>
                  <a:srgbClr val="D97757"/>
                </a:solidFill>
                <a:latin typeface="Calibri"/>
              </a:rPr>
              <a:t>3</a:t>
            </a:r>
          </a:p>
        </p:txBody>
      </p:sp>
      <p:sp>
        <p:nvSpPr>
          <p:cNvPr id="13" name="TextBox 12"/>
          <p:cNvSpPr txBox="1"/>
          <p:nvPr/>
        </p:nvSpPr>
        <p:spPr>
          <a:xfrm>
            <a:off x="1554480" y="4937760"/>
            <a:ext cx="9905695" cy="365760"/>
          </a:xfrm>
          <a:prstGeom prst="rect">
            <a:avLst/>
          </a:prstGeom>
          <a:noFill/>
        </p:spPr>
        <p:txBody>
          <a:bodyPr wrap="square" lIns="0" rIns="0" tIns="0" bIns="0" anchor="t">
            <a:spAutoFit/>
          </a:bodyPr>
          <a:lstStyle/>
          <a:p>
            <a:pPr algn="l">
              <a:lnSpc>
                <a:spcPct val="115000"/>
              </a:lnSpc>
            </a:pPr>
            <a:r>
              <a:rPr sz="1800" b="1">
                <a:solidFill>
                  <a:srgbClr val="1F1F1E"/>
                </a:solidFill>
                <a:latin typeface="Calibri"/>
              </a:rPr>
              <a:t>Compliance Training Assigner</a:t>
            </a:r>
          </a:p>
        </p:txBody>
      </p:sp>
      <p:sp>
        <p:nvSpPr>
          <p:cNvPr id="14" name="TextBox 13"/>
          <p:cNvSpPr txBox="1"/>
          <p:nvPr/>
        </p:nvSpPr>
        <p:spPr>
          <a:xfrm>
            <a:off x="1554480" y="5349240"/>
            <a:ext cx="9905695" cy="822960"/>
          </a:xfrm>
          <a:prstGeom prst="rect">
            <a:avLst/>
          </a:prstGeom>
          <a:noFill/>
        </p:spPr>
        <p:txBody>
          <a:bodyPr wrap="square" lIns="0" rIns="0" tIns="0" bIns="0" anchor="t">
            <a:spAutoFit/>
          </a:bodyPr>
          <a:lstStyle/>
          <a:p>
            <a:pPr algn="l">
              <a:lnSpc>
                <a:spcPct val="135000"/>
              </a:lnSpc>
            </a:pPr>
            <a:r>
              <a:rPr sz="1300" b="0">
                <a:solidFill>
                  <a:srgbClr val="6B6A66"/>
                </a:solidFill>
                <a:latin typeface="Calibri"/>
              </a:rPr>
              <a:t>Enrols new hires in LMS courses based on role and jurisdiction. Tracks completion. Escalates when a role spans unclear jurisdictions.</a:t>
            </a:r>
          </a:p>
        </p:txBody>
      </p:sp>
      <p:sp>
        <p:nvSpPr>
          <p:cNvPr id="15" name="TextBox 14"/>
          <p:cNvSpPr txBox="1"/>
          <p:nvPr/>
        </p:nvSpPr>
        <p:spPr>
          <a:xfrm>
            <a:off x="11094415" y="6446520"/>
            <a:ext cx="822960" cy="274320"/>
          </a:xfrm>
          <a:prstGeom prst="rect">
            <a:avLst/>
          </a:prstGeom>
          <a:noFill/>
        </p:spPr>
        <p:txBody>
          <a:bodyPr wrap="square" lIns="0" rIns="0" tIns="0" bIns="0" anchor="t">
            <a:spAutoFit/>
          </a:bodyPr>
          <a:lstStyle/>
          <a:p>
            <a:pPr algn="r">
              <a:lnSpc>
                <a:spcPct val="115000"/>
              </a:lnSpc>
            </a:pPr>
            <a:r>
              <a:rPr sz="1000" b="0">
                <a:solidFill>
                  <a:srgbClr val="6B6A66"/>
                </a:solidFill>
                <a:latin typeface="Calibri"/>
              </a:rPr>
              <a:t>4 / 10</a:t>
            </a:r>
          </a:p>
        </p:txBody>
      </p:sp>
      <p:sp>
        <p:nvSpPr>
          <p:cNvPr id="16" name="TextBox 15"/>
          <p:cNvSpPr txBox="1"/>
          <p:nvPr/>
        </p:nvSpPr>
        <p:spPr>
          <a:xfrm>
            <a:off x="731520" y="6446520"/>
            <a:ext cx="7315200" cy="274320"/>
          </a:xfrm>
          <a:prstGeom prst="rect">
            <a:avLst/>
          </a:prstGeom>
          <a:noFill/>
        </p:spPr>
        <p:txBody>
          <a:bodyPr wrap="square" lIns="0" rIns="0" tIns="0" bIns="0" anchor="t">
            <a:spAutoFit/>
          </a:bodyPr>
          <a:lstStyle/>
          <a:p>
            <a:pPr algn="l">
              <a:lnSpc>
                <a:spcPct val="115000"/>
              </a:lnSpc>
            </a:pPr>
            <a:r>
              <a:rPr sz="1000" b="0">
                <a:solidFill>
                  <a:srgbClr val="6B6A66"/>
                </a:solidFill>
                <a:latin typeface="Calibri"/>
              </a:rPr>
              <a:t>Full spec: spec-hr-onboarding-coordination.md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728655" cy="320040"/>
          </a:xfrm>
          <a:prstGeom prst="rect">
            <a:avLst/>
          </a:prstGeom>
          <a:noFill/>
        </p:spPr>
        <p:txBody>
          <a:bodyPr wrap="square" lIns="0" rIns="0" tIns="0" bIns="0" anchor="t">
            <a:spAutoFit/>
          </a:bodyPr>
          <a:lstStyle/>
          <a:p>
            <a:pPr algn="l">
              <a:lnSpc>
                <a:spcPct val="115000"/>
              </a:lnSpc>
            </a:pPr>
            <a:r>
              <a:rPr sz="1100" b="1">
                <a:solidFill>
                  <a:srgbClr val="D97757"/>
                </a:solidFill>
                <a:latin typeface="Calibri"/>
              </a:rPr>
              <a:t>THE DELEGATION BOUNDARY</a:t>
            </a:r>
          </a:p>
        </p:txBody>
      </p:sp>
      <p:sp>
        <p:nvSpPr>
          <p:cNvPr id="4" name="TextBox 3"/>
          <p:cNvSpPr txBox="1"/>
          <p:nvPr/>
        </p:nvSpPr>
        <p:spPr>
          <a:xfrm>
            <a:off x="731520" y="960120"/>
            <a:ext cx="10728655" cy="822960"/>
          </a:xfrm>
          <a:prstGeom prst="rect">
            <a:avLst/>
          </a:prstGeom>
          <a:noFill/>
        </p:spPr>
        <p:txBody>
          <a:bodyPr wrap="square" lIns="0" rIns="0" tIns="0" bIns="0" anchor="t">
            <a:spAutoFit/>
          </a:bodyPr>
          <a:lstStyle/>
          <a:p>
            <a:pPr algn="l">
              <a:lnSpc>
                <a:spcPct val="115000"/>
              </a:lnSpc>
            </a:pPr>
            <a:r>
              <a:rPr sz="3200" b="1">
                <a:solidFill>
                  <a:srgbClr val="1F1F1E"/>
                </a:solidFill>
                <a:latin typeface="Calibri"/>
              </a:rPr>
              <a:t>The agent is a coordinator, not a decision-maker</a:t>
            </a:r>
          </a:p>
        </p:txBody>
      </p:sp>
      <p:cxnSp>
        <p:nvCxnSpPr>
          <p:cNvPr id="5" name="Connector 4"/>
          <p:cNvCxnSpPr/>
          <p:nvPr/>
        </p:nvCxnSpPr>
        <p:spPr>
          <a:xfrm>
            <a:off x="731520" y="1783080"/>
            <a:ext cx="1371600" cy="0"/>
          </a:xfrm>
          <a:prstGeom prst="line">
            <a:avLst/>
          </a:prstGeom>
          <a:ln w="19050">
            <a:solidFill>
              <a:srgbClr val="D9775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2103120"/>
            <a:ext cx="5090007" cy="365760"/>
          </a:xfrm>
          <a:prstGeom prst="rect">
            <a:avLst/>
          </a:prstGeom>
          <a:noFill/>
        </p:spPr>
        <p:txBody>
          <a:bodyPr wrap="square" lIns="0" rIns="0" tIns="0" bIns="0" anchor="t">
            <a:spAutoFit/>
          </a:bodyPr>
          <a:lstStyle/>
          <a:p>
            <a:pPr algn="l">
              <a:lnSpc>
                <a:spcPct val="115000"/>
              </a:lnSpc>
            </a:pPr>
            <a:r>
              <a:rPr sz="1100" b="1">
                <a:solidFill>
                  <a:srgbClr val="D97757"/>
                </a:solidFill>
                <a:latin typeface="Calibri"/>
              </a:rPr>
              <a:t>THE AGENT HANDLES</a:t>
            </a:r>
          </a:p>
        </p:txBody>
      </p:sp>
      <p:sp>
        <p:nvSpPr>
          <p:cNvPr id="7" name="TextBox 6"/>
          <p:cNvSpPr txBox="1"/>
          <p:nvPr/>
        </p:nvSpPr>
        <p:spPr>
          <a:xfrm>
            <a:off x="731520" y="2560320"/>
            <a:ext cx="5090007" cy="4114800"/>
          </a:xfrm>
          <a:prstGeom prst="rect">
            <a:avLst/>
          </a:prstGeom>
          <a:noFill/>
        </p:spPr>
        <p:txBody>
          <a:bodyPr wrap="square" lIns="0" rIns="0" tIns="0" bIns="0">
            <a:spAutoFit/>
          </a:bodyPr>
          <a:lstStyle/>
          <a:p>
            <a:pPr algn="l">
              <a:lnSpc>
                <a:spcPct val="135000"/>
              </a:lnSpc>
              <a:spcAft>
                <a:spcPts val="1000"/>
              </a:spcAft>
            </a:pPr>
            <a:r>
              <a:rPr sz="1400" b="1">
                <a:solidFill>
                  <a:srgbClr val="D97757"/>
                </a:solidFill>
                <a:latin typeface="Calibri"/>
              </a:rPr>
              <a:t>—   </a:t>
            </a:r>
            <a:r>
              <a:rPr sz="1400">
                <a:solidFill>
                  <a:srgbClr val="1F1F1E"/>
                </a:solidFill>
                <a:latin typeface="Calibri"/>
              </a:rPr>
              <a:t>IT provisioning tickets for standard role-based bundles.</a:t>
            </a:r>
          </a:p>
          <a:p>
            <a:pPr algn="l">
              <a:lnSpc>
                <a:spcPct val="135000"/>
              </a:lnSpc>
              <a:spcAft>
                <a:spcPts val="1000"/>
              </a:spcAft>
            </a:pPr>
            <a:r>
              <a:rPr sz="1400" b="1">
                <a:solidFill>
                  <a:srgbClr val="D97757"/>
                </a:solidFill>
                <a:latin typeface="Calibri"/>
              </a:rPr>
              <a:t>—   </a:t>
            </a:r>
            <a:r>
              <a:rPr sz="1400">
                <a:solidFill>
                  <a:srgbClr val="1F1F1E"/>
                </a:solidFill>
                <a:latin typeface="Calibri"/>
              </a:rPr>
              <a:t>Benefits-enrolment triggers once classification is set.</a:t>
            </a:r>
          </a:p>
          <a:p>
            <a:pPr algn="l">
              <a:lnSpc>
                <a:spcPct val="135000"/>
              </a:lnSpc>
              <a:spcAft>
                <a:spcPts val="1000"/>
              </a:spcAft>
            </a:pPr>
            <a:r>
              <a:rPr sz="1400" b="1">
                <a:solidFill>
                  <a:srgbClr val="D97757"/>
                </a:solidFill>
                <a:latin typeface="Calibri"/>
              </a:rPr>
              <a:t>—   </a:t>
            </a:r>
            <a:r>
              <a:rPr sz="1400">
                <a:solidFill>
                  <a:srgbClr val="1F1F1E"/>
                </a:solidFill>
                <a:latin typeface="Calibri"/>
              </a:rPr>
              <a:t>Standard compliance-training enrolment and completion tracking.</a:t>
            </a:r>
          </a:p>
          <a:p>
            <a:pPr algn="l">
              <a:lnSpc>
                <a:spcPct val="135000"/>
              </a:lnSpc>
              <a:spcAft>
                <a:spcPts val="1000"/>
              </a:spcAft>
            </a:pPr>
            <a:r>
              <a:rPr sz="1400" b="1">
                <a:solidFill>
                  <a:srgbClr val="D97757"/>
                </a:solidFill>
                <a:latin typeface="Calibri"/>
              </a:rPr>
              <a:t>—   </a:t>
            </a:r>
            <a:r>
              <a:rPr sz="1400">
                <a:solidFill>
                  <a:srgbClr val="1F1F1E"/>
                </a:solidFill>
                <a:latin typeface="Calibri"/>
              </a:rPr>
              <a:t>Welcome pack, calendar coordination, manager handoff summary at day 10.</a:t>
            </a:r>
          </a:p>
          <a:p>
            <a:pPr algn="l">
              <a:lnSpc>
                <a:spcPct val="135000"/>
              </a:lnSpc>
              <a:spcAft>
                <a:spcPts val="1000"/>
              </a:spcAft>
            </a:pPr>
            <a:r>
              <a:rPr sz="1400" b="1">
                <a:solidFill>
                  <a:srgbClr val="D97757"/>
                </a:solidFill>
                <a:latin typeface="Calibri"/>
              </a:rPr>
              <a:t>—   </a:t>
            </a:r>
            <a:r>
              <a:rPr sz="1400">
                <a:solidFill>
                  <a:srgbClr val="1F1F1E"/>
                </a:solidFill>
                <a:latin typeface="Calibri"/>
              </a:rPr>
              <a:t>Detecting late I-9s, overdue tasks, and day-14 incompletes.</a:t>
            </a:r>
          </a:p>
        </p:txBody>
      </p:sp>
      <p:sp>
        <p:nvSpPr>
          <p:cNvPr id="8" name="TextBox 7"/>
          <p:cNvSpPr txBox="1"/>
          <p:nvPr/>
        </p:nvSpPr>
        <p:spPr>
          <a:xfrm>
            <a:off x="6370167" y="2103120"/>
            <a:ext cx="5090007" cy="365760"/>
          </a:xfrm>
          <a:prstGeom prst="rect">
            <a:avLst/>
          </a:prstGeom>
          <a:noFill/>
        </p:spPr>
        <p:txBody>
          <a:bodyPr wrap="square" lIns="0" rIns="0" tIns="0" bIns="0" anchor="t">
            <a:spAutoFit/>
          </a:bodyPr>
          <a:lstStyle/>
          <a:p>
            <a:pPr algn="l">
              <a:lnSpc>
                <a:spcPct val="115000"/>
              </a:lnSpc>
            </a:pPr>
            <a:r>
              <a:rPr sz="1100" b="1">
                <a:solidFill>
                  <a:srgbClr val="D97757"/>
                </a:solidFill>
                <a:latin typeface="Calibri"/>
              </a:rPr>
              <a:t>HUMANS ALWAYS DECIDE</a:t>
            </a:r>
          </a:p>
        </p:txBody>
      </p:sp>
      <p:sp>
        <p:nvSpPr>
          <p:cNvPr id="9" name="TextBox 8"/>
          <p:cNvSpPr txBox="1"/>
          <p:nvPr/>
        </p:nvSpPr>
        <p:spPr>
          <a:xfrm>
            <a:off x="6370167" y="2560320"/>
            <a:ext cx="5090007" cy="4114800"/>
          </a:xfrm>
          <a:prstGeom prst="rect">
            <a:avLst/>
          </a:prstGeom>
          <a:noFill/>
        </p:spPr>
        <p:txBody>
          <a:bodyPr wrap="square" lIns="0" rIns="0" tIns="0" bIns="0">
            <a:spAutoFit/>
          </a:bodyPr>
          <a:lstStyle/>
          <a:p>
            <a:pPr algn="l">
              <a:lnSpc>
                <a:spcPct val="135000"/>
              </a:lnSpc>
              <a:spcAft>
                <a:spcPts val="1000"/>
              </a:spcAft>
            </a:pPr>
            <a:r>
              <a:rPr sz="1400" b="1">
                <a:solidFill>
                  <a:srgbClr val="D97757"/>
                </a:solidFill>
                <a:latin typeface="Calibri"/>
              </a:rPr>
              <a:t>—   </a:t>
            </a:r>
            <a:r>
              <a:rPr sz="1400">
                <a:solidFill>
                  <a:srgbClr val="1F1F1E"/>
                </a:solidFill>
                <a:latin typeface="Calibri"/>
              </a:rPr>
              <a:t>Contractor vs. full-employee classification (legal exposure).</a:t>
            </a:r>
          </a:p>
          <a:p>
            <a:pPr algn="l">
              <a:lnSpc>
                <a:spcPct val="135000"/>
              </a:lnSpc>
              <a:spcAft>
                <a:spcPts val="1000"/>
              </a:spcAft>
            </a:pPr>
            <a:r>
              <a:rPr sz="1400" b="1">
                <a:solidFill>
                  <a:srgbClr val="D97757"/>
                </a:solidFill>
                <a:latin typeface="Calibri"/>
              </a:rPr>
              <a:t>—   </a:t>
            </a:r>
            <a:r>
              <a:rPr sz="1400">
                <a:solidFill>
                  <a:srgbClr val="1F1F1E"/>
                </a:solidFill>
                <a:latin typeface="Calibri"/>
              </a:rPr>
              <a:t>Whether a late I-9 triggers a work-authorisation hold (IRCA).</a:t>
            </a:r>
          </a:p>
          <a:p>
            <a:pPr algn="l">
              <a:lnSpc>
                <a:spcPct val="135000"/>
              </a:lnSpc>
              <a:spcAft>
                <a:spcPts val="1000"/>
              </a:spcAft>
            </a:pPr>
            <a:r>
              <a:rPr sz="1400" b="1">
                <a:solidFill>
                  <a:srgbClr val="D97757"/>
                </a:solidFill>
                <a:latin typeface="Calibri"/>
              </a:rPr>
              <a:t>—   </a:t>
            </a:r>
            <a:r>
              <a:rPr sz="1400">
                <a:solidFill>
                  <a:srgbClr val="1F1F1E"/>
                </a:solidFill>
                <a:latin typeface="Calibri"/>
              </a:rPr>
              <a:t>Whether a buddy pairing crosses seniority norms (social judgment).</a:t>
            </a:r>
          </a:p>
          <a:p>
            <a:pPr algn="l">
              <a:lnSpc>
                <a:spcPct val="135000"/>
              </a:lnSpc>
              <a:spcAft>
                <a:spcPts val="1000"/>
              </a:spcAft>
            </a:pPr>
            <a:r>
              <a:rPr sz="1400" b="1">
                <a:solidFill>
                  <a:srgbClr val="D97757"/>
                </a:solidFill>
                <a:latin typeface="Calibri"/>
              </a:rPr>
              <a:t>—   </a:t>
            </a:r>
            <a:r>
              <a:rPr sz="1400">
                <a:solidFill>
                  <a:srgbClr val="1F1F1E"/>
                </a:solidFill>
                <a:latin typeface="Calibri"/>
              </a:rPr>
              <a:t>Non-standard IT requests (executive kit, accommodations, dev environments).</a:t>
            </a:r>
          </a:p>
          <a:p>
            <a:pPr algn="l">
              <a:lnSpc>
                <a:spcPct val="135000"/>
              </a:lnSpc>
              <a:spcAft>
                <a:spcPts val="1000"/>
              </a:spcAft>
            </a:pPr>
            <a:r>
              <a:rPr sz="1400" b="1">
                <a:solidFill>
                  <a:srgbClr val="D97757"/>
                </a:solidFill>
                <a:latin typeface="Calibri"/>
              </a:rPr>
              <a:t>—   </a:t>
            </a:r>
            <a:r>
              <a:rPr sz="1400">
                <a:solidFill>
                  <a:srgbClr val="1F1F1E"/>
                </a:solidFill>
                <a:latin typeface="Calibri"/>
              </a:rPr>
              <a:t>Signing off that an onboarding is complete.</a:t>
            </a:r>
          </a:p>
        </p:txBody>
      </p:sp>
      <p:sp>
        <p:nvSpPr>
          <p:cNvPr id="10" name="TextBox 9"/>
          <p:cNvSpPr txBox="1"/>
          <p:nvPr/>
        </p:nvSpPr>
        <p:spPr>
          <a:xfrm>
            <a:off x="731520" y="6446520"/>
            <a:ext cx="7315200" cy="274320"/>
          </a:xfrm>
          <a:prstGeom prst="rect">
            <a:avLst/>
          </a:prstGeom>
          <a:noFill/>
        </p:spPr>
        <p:txBody>
          <a:bodyPr wrap="square" lIns="0" rIns="0" tIns="0" bIns="0" anchor="t">
            <a:spAutoFit/>
          </a:bodyPr>
          <a:lstStyle/>
          <a:p>
            <a:pPr algn="l">
              <a:lnSpc>
                <a:spcPct val="115000"/>
              </a:lnSpc>
            </a:pPr>
            <a:r>
              <a:rPr sz="1000" b="0">
                <a:solidFill>
                  <a:srgbClr val="6B6A66"/>
                </a:solidFill>
                <a:latin typeface="Calibri"/>
              </a:rPr>
              <a:t>Every human decision is logged with user, reason, and timestamp — 7-year retention.</a:t>
            </a:r>
          </a:p>
        </p:txBody>
      </p:sp>
      <p:sp>
        <p:nvSpPr>
          <p:cNvPr id="11" name="TextBox 10"/>
          <p:cNvSpPr txBox="1"/>
          <p:nvPr/>
        </p:nvSpPr>
        <p:spPr>
          <a:xfrm>
            <a:off x="11094415" y="6446520"/>
            <a:ext cx="822960" cy="274320"/>
          </a:xfrm>
          <a:prstGeom prst="rect">
            <a:avLst/>
          </a:prstGeom>
          <a:noFill/>
        </p:spPr>
        <p:txBody>
          <a:bodyPr wrap="square" lIns="0" rIns="0" tIns="0" bIns="0" anchor="t">
            <a:spAutoFit/>
          </a:bodyPr>
          <a:lstStyle/>
          <a:p>
            <a:pPr algn="r">
              <a:lnSpc>
                <a:spcPct val="115000"/>
              </a:lnSpc>
            </a:pPr>
            <a:r>
              <a:rPr sz="1000" b="0">
                <a:solidFill>
                  <a:srgbClr val="6B6A66"/>
                </a:solidFill>
                <a:latin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728655" cy="320040"/>
          </a:xfrm>
          <a:prstGeom prst="rect">
            <a:avLst/>
          </a:prstGeom>
          <a:noFill/>
        </p:spPr>
        <p:txBody>
          <a:bodyPr wrap="square" lIns="0" rIns="0" tIns="0" bIns="0" anchor="t">
            <a:spAutoFit/>
          </a:bodyPr>
          <a:lstStyle/>
          <a:p>
            <a:pPr algn="l">
              <a:lnSpc>
                <a:spcPct val="115000"/>
              </a:lnSpc>
            </a:pPr>
            <a:r>
              <a:rPr sz="1100" b="1">
                <a:solidFill>
                  <a:srgbClr val="D97757"/>
                </a:solidFill>
                <a:latin typeface="Calibri"/>
              </a:rPr>
              <a:t>WHAT SUCCESS LOOKS LIKE</a:t>
            </a:r>
          </a:p>
        </p:txBody>
      </p:sp>
      <p:sp>
        <p:nvSpPr>
          <p:cNvPr id="4" name="TextBox 3"/>
          <p:cNvSpPr txBox="1"/>
          <p:nvPr/>
        </p:nvSpPr>
        <p:spPr>
          <a:xfrm>
            <a:off x="731520" y="960120"/>
            <a:ext cx="10728655" cy="822960"/>
          </a:xfrm>
          <a:prstGeom prst="rect">
            <a:avLst/>
          </a:prstGeom>
          <a:noFill/>
        </p:spPr>
        <p:txBody>
          <a:bodyPr wrap="square" lIns="0" rIns="0" tIns="0" bIns="0" anchor="t">
            <a:spAutoFit/>
          </a:bodyPr>
          <a:lstStyle/>
          <a:p>
            <a:pPr algn="l">
              <a:lnSpc>
                <a:spcPct val="115000"/>
              </a:lnSpc>
            </a:pPr>
            <a:r>
              <a:rPr sz="3200" b="1">
                <a:solidFill>
                  <a:srgbClr val="1F1F1E"/>
                </a:solidFill>
                <a:latin typeface="Calibri"/>
              </a:rPr>
              <a:t>Four measurable outcomes — three targets, one hard rule</a:t>
            </a:r>
          </a:p>
        </p:txBody>
      </p:sp>
      <p:cxnSp>
        <p:nvCxnSpPr>
          <p:cNvPr id="5" name="Connector 4"/>
          <p:cNvCxnSpPr/>
          <p:nvPr/>
        </p:nvCxnSpPr>
        <p:spPr>
          <a:xfrm>
            <a:off x="731520" y="1783080"/>
            <a:ext cx="1371600" cy="0"/>
          </a:xfrm>
          <a:prstGeom prst="line">
            <a:avLst/>
          </a:prstGeom>
          <a:ln w="19050">
            <a:solidFill>
              <a:srgbClr val="D9775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2103120"/>
            <a:ext cx="2011680" cy="960120"/>
          </a:xfrm>
          <a:prstGeom prst="rect">
            <a:avLst/>
          </a:prstGeom>
          <a:noFill/>
        </p:spPr>
        <p:txBody>
          <a:bodyPr wrap="square" lIns="0" rIns="0" tIns="0" bIns="0" anchor="t">
            <a:spAutoFit/>
          </a:bodyPr>
          <a:lstStyle/>
          <a:p>
            <a:pPr algn="l">
              <a:lnSpc>
                <a:spcPct val="115000"/>
              </a:lnSpc>
            </a:pPr>
            <a:r>
              <a:rPr sz="3400" b="1">
                <a:solidFill>
                  <a:srgbClr val="D97757"/>
                </a:solidFill>
                <a:latin typeface="Calibri"/>
              </a:rPr>
              <a:t>≥ 68%</a:t>
            </a:r>
          </a:p>
        </p:txBody>
      </p:sp>
      <p:sp>
        <p:nvSpPr>
          <p:cNvPr id="7" name="TextBox 6"/>
          <p:cNvSpPr txBox="1"/>
          <p:nvPr/>
        </p:nvSpPr>
        <p:spPr>
          <a:xfrm>
            <a:off x="2926080" y="2194560"/>
            <a:ext cx="6858000" cy="457200"/>
          </a:xfrm>
          <a:prstGeom prst="rect">
            <a:avLst/>
          </a:prstGeom>
          <a:noFill/>
        </p:spPr>
        <p:txBody>
          <a:bodyPr wrap="square" lIns="0" rIns="0" tIns="0" bIns="0" anchor="t">
            <a:spAutoFit/>
          </a:bodyPr>
          <a:lstStyle/>
          <a:p>
            <a:pPr algn="l">
              <a:lnSpc>
                <a:spcPct val="115000"/>
              </a:lnSpc>
            </a:pPr>
            <a:r>
              <a:rPr sz="1600" b="0">
                <a:solidFill>
                  <a:srgbClr val="1F1F1E"/>
                </a:solidFill>
                <a:latin typeface="Calibri"/>
              </a:rPr>
              <a:t>of all onboarding tasks executed without HR Ops touching them</a:t>
            </a:r>
          </a:p>
        </p:txBody>
      </p:sp>
      <p:sp>
        <p:nvSpPr>
          <p:cNvPr id="8" name="TextBox 7"/>
          <p:cNvSpPr txBox="1"/>
          <p:nvPr/>
        </p:nvSpPr>
        <p:spPr>
          <a:xfrm>
            <a:off x="2926080" y="2606040"/>
            <a:ext cx="6858000" cy="365760"/>
          </a:xfrm>
          <a:prstGeom prst="rect">
            <a:avLst/>
          </a:prstGeom>
          <a:noFill/>
        </p:spPr>
        <p:txBody>
          <a:bodyPr wrap="square" lIns="0" rIns="0" tIns="0" bIns="0" anchor="t">
            <a:spAutoFit/>
          </a:bodyPr>
          <a:lstStyle/>
          <a:p>
            <a:pPr algn="l">
              <a:lnSpc>
                <a:spcPct val="115000"/>
              </a:lnSpc>
            </a:pPr>
            <a:r>
              <a:rPr sz="1100" b="0">
                <a:solidFill>
                  <a:srgbClr val="6B6A66"/>
                </a:solidFill>
                <a:latin typeface="Calibri"/>
              </a:rPr>
              <a:t>Target — needs validation</a:t>
            </a:r>
          </a:p>
        </p:txBody>
      </p:sp>
      <p:cxnSp>
        <p:nvCxnSpPr>
          <p:cNvPr id="9" name="Connector 8"/>
          <p:cNvCxnSpPr/>
          <p:nvPr/>
        </p:nvCxnSpPr>
        <p:spPr>
          <a:xfrm>
            <a:off x="731520" y="3017520"/>
            <a:ext cx="10728655" cy="0"/>
          </a:xfrm>
          <a:prstGeom prst="line">
            <a:avLst/>
          </a:prstGeom>
          <a:ln w="9525">
            <a:solidFill>
              <a:srgbClr val="E2DF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3063240"/>
            <a:ext cx="2011680" cy="960120"/>
          </a:xfrm>
          <a:prstGeom prst="rect">
            <a:avLst/>
          </a:prstGeom>
          <a:noFill/>
        </p:spPr>
        <p:txBody>
          <a:bodyPr wrap="square" lIns="0" rIns="0" tIns="0" bIns="0" anchor="t">
            <a:spAutoFit/>
          </a:bodyPr>
          <a:lstStyle/>
          <a:p>
            <a:pPr algn="l">
              <a:lnSpc>
                <a:spcPct val="115000"/>
              </a:lnSpc>
            </a:pPr>
            <a:r>
              <a:rPr sz="3400" b="1">
                <a:solidFill>
                  <a:srgbClr val="D97757"/>
                </a:solidFill>
                <a:latin typeface="Calibri"/>
              </a:rPr>
              <a:t>≥ 50%</a:t>
            </a:r>
          </a:p>
        </p:txBody>
      </p:sp>
      <p:sp>
        <p:nvSpPr>
          <p:cNvPr id="11" name="TextBox 10"/>
          <p:cNvSpPr txBox="1"/>
          <p:nvPr/>
        </p:nvSpPr>
        <p:spPr>
          <a:xfrm>
            <a:off x="2926080" y="3154680"/>
            <a:ext cx="6858000" cy="457200"/>
          </a:xfrm>
          <a:prstGeom prst="rect">
            <a:avLst/>
          </a:prstGeom>
          <a:noFill/>
        </p:spPr>
        <p:txBody>
          <a:bodyPr wrap="square" lIns="0" rIns="0" tIns="0" bIns="0" anchor="t">
            <a:spAutoFit/>
          </a:bodyPr>
          <a:lstStyle/>
          <a:p>
            <a:pPr algn="l">
              <a:lnSpc>
                <a:spcPct val="115000"/>
              </a:lnSpc>
            </a:pPr>
            <a:r>
              <a:rPr sz="1600" b="0">
                <a:solidFill>
                  <a:srgbClr val="1F1F1E"/>
                </a:solidFill>
                <a:latin typeface="Calibri"/>
              </a:rPr>
              <a:t>reduction in HR Ops time per onboarding</a:t>
            </a:r>
          </a:p>
        </p:txBody>
      </p:sp>
      <p:sp>
        <p:nvSpPr>
          <p:cNvPr id="12" name="TextBox 11"/>
          <p:cNvSpPr txBox="1"/>
          <p:nvPr/>
        </p:nvSpPr>
        <p:spPr>
          <a:xfrm>
            <a:off x="2926080" y="3566160"/>
            <a:ext cx="6858000" cy="365760"/>
          </a:xfrm>
          <a:prstGeom prst="rect">
            <a:avLst/>
          </a:prstGeom>
          <a:noFill/>
        </p:spPr>
        <p:txBody>
          <a:bodyPr wrap="square" lIns="0" rIns="0" tIns="0" bIns="0" anchor="t">
            <a:spAutoFit/>
          </a:bodyPr>
          <a:lstStyle/>
          <a:p>
            <a:pPr algn="l">
              <a:lnSpc>
                <a:spcPct val="115000"/>
              </a:lnSpc>
            </a:pPr>
            <a:r>
              <a:rPr sz="1100" b="0">
                <a:solidFill>
                  <a:srgbClr val="6B6A66"/>
                </a:solidFill>
                <a:latin typeface="Calibri"/>
              </a:rPr>
              <a:t>Target — baseline needed</a:t>
            </a:r>
          </a:p>
        </p:txBody>
      </p:sp>
      <p:cxnSp>
        <p:nvCxnSpPr>
          <p:cNvPr id="13" name="Connector 12"/>
          <p:cNvCxnSpPr/>
          <p:nvPr/>
        </p:nvCxnSpPr>
        <p:spPr>
          <a:xfrm>
            <a:off x="731520" y="3977640"/>
            <a:ext cx="10728655" cy="0"/>
          </a:xfrm>
          <a:prstGeom prst="line">
            <a:avLst/>
          </a:prstGeom>
          <a:ln w="9525">
            <a:solidFill>
              <a:srgbClr val="E2DFD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4023360"/>
            <a:ext cx="2011680" cy="960120"/>
          </a:xfrm>
          <a:prstGeom prst="rect">
            <a:avLst/>
          </a:prstGeom>
          <a:noFill/>
        </p:spPr>
        <p:txBody>
          <a:bodyPr wrap="square" lIns="0" rIns="0" tIns="0" bIns="0" anchor="t">
            <a:spAutoFit/>
          </a:bodyPr>
          <a:lstStyle/>
          <a:p>
            <a:pPr algn="l">
              <a:lnSpc>
                <a:spcPct val="115000"/>
              </a:lnSpc>
            </a:pPr>
            <a:r>
              <a:rPr sz="3400" b="1">
                <a:solidFill>
                  <a:srgbClr val="D97757"/>
                </a:solidFill>
                <a:latin typeface="Calibri"/>
              </a:rPr>
              <a:t>≤ 1%</a:t>
            </a:r>
          </a:p>
        </p:txBody>
      </p:sp>
      <p:sp>
        <p:nvSpPr>
          <p:cNvPr id="15" name="TextBox 14"/>
          <p:cNvSpPr txBox="1"/>
          <p:nvPr/>
        </p:nvSpPr>
        <p:spPr>
          <a:xfrm>
            <a:off x="2926080" y="4114800"/>
            <a:ext cx="6858000" cy="457200"/>
          </a:xfrm>
          <a:prstGeom prst="rect">
            <a:avLst/>
          </a:prstGeom>
          <a:noFill/>
        </p:spPr>
        <p:txBody>
          <a:bodyPr wrap="square" lIns="0" rIns="0" tIns="0" bIns="0" anchor="t">
            <a:spAutoFit/>
          </a:bodyPr>
          <a:lstStyle/>
          <a:p>
            <a:pPr algn="l">
              <a:lnSpc>
                <a:spcPct val="115000"/>
              </a:lnSpc>
            </a:pPr>
            <a:r>
              <a:rPr sz="1600" b="0">
                <a:solidFill>
                  <a:srgbClr val="1F1F1E"/>
                </a:solidFill>
                <a:latin typeface="Calibri"/>
              </a:rPr>
              <a:t>of onboardings with any incomplete task at day 14</a:t>
            </a:r>
          </a:p>
        </p:txBody>
      </p:sp>
      <p:sp>
        <p:nvSpPr>
          <p:cNvPr id="16" name="TextBox 15"/>
          <p:cNvSpPr txBox="1"/>
          <p:nvPr/>
        </p:nvSpPr>
        <p:spPr>
          <a:xfrm>
            <a:off x="2926080" y="4526280"/>
            <a:ext cx="6858000" cy="365760"/>
          </a:xfrm>
          <a:prstGeom prst="rect">
            <a:avLst/>
          </a:prstGeom>
          <a:noFill/>
        </p:spPr>
        <p:txBody>
          <a:bodyPr wrap="square" lIns="0" rIns="0" tIns="0" bIns="0" anchor="t">
            <a:spAutoFit/>
          </a:bodyPr>
          <a:lstStyle/>
          <a:p>
            <a:pPr algn="l">
              <a:lnSpc>
                <a:spcPct val="115000"/>
              </a:lnSpc>
            </a:pPr>
            <a:r>
              <a:rPr sz="1100" b="0">
                <a:solidFill>
                  <a:srgbClr val="6B6A66"/>
                </a:solidFill>
                <a:latin typeface="Calibri"/>
              </a:rPr>
              <a:t>Target — baseline needed</a:t>
            </a:r>
          </a:p>
        </p:txBody>
      </p:sp>
      <p:cxnSp>
        <p:nvCxnSpPr>
          <p:cNvPr id="17" name="Connector 16"/>
          <p:cNvCxnSpPr/>
          <p:nvPr/>
        </p:nvCxnSpPr>
        <p:spPr>
          <a:xfrm>
            <a:off x="731520" y="4937760"/>
            <a:ext cx="10728655" cy="0"/>
          </a:xfrm>
          <a:prstGeom prst="line">
            <a:avLst/>
          </a:prstGeom>
          <a:ln w="9525">
            <a:solidFill>
              <a:srgbClr val="E2DFD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31520" y="4983480"/>
            <a:ext cx="2011680" cy="960120"/>
          </a:xfrm>
          <a:prstGeom prst="rect">
            <a:avLst/>
          </a:prstGeom>
          <a:noFill/>
        </p:spPr>
        <p:txBody>
          <a:bodyPr wrap="square" lIns="0" rIns="0" tIns="0" bIns="0" anchor="t">
            <a:spAutoFit/>
          </a:bodyPr>
          <a:lstStyle/>
          <a:p>
            <a:pPr algn="l">
              <a:lnSpc>
                <a:spcPct val="115000"/>
              </a:lnSpc>
            </a:pPr>
            <a:r>
              <a:rPr sz="3400" b="1">
                <a:solidFill>
                  <a:srgbClr val="D97757"/>
                </a:solidFill>
                <a:latin typeface="Calibri"/>
              </a:rPr>
              <a:t>100%</a:t>
            </a:r>
          </a:p>
        </p:txBody>
      </p:sp>
      <p:sp>
        <p:nvSpPr>
          <p:cNvPr id="19" name="TextBox 18"/>
          <p:cNvSpPr txBox="1"/>
          <p:nvPr/>
        </p:nvSpPr>
        <p:spPr>
          <a:xfrm>
            <a:off x="2926080" y="5074920"/>
            <a:ext cx="6858000" cy="457200"/>
          </a:xfrm>
          <a:prstGeom prst="rect">
            <a:avLst/>
          </a:prstGeom>
          <a:noFill/>
        </p:spPr>
        <p:txBody>
          <a:bodyPr wrap="square" lIns="0" rIns="0" tIns="0" bIns="0" anchor="t">
            <a:spAutoFit/>
          </a:bodyPr>
          <a:lstStyle/>
          <a:p>
            <a:pPr algn="l">
              <a:lnSpc>
                <a:spcPct val="115000"/>
              </a:lnSpc>
            </a:pPr>
            <a:r>
              <a:rPr sz="1600" b="0">
                <a:solidFill>
                  <a:srgbClr val="1F1F1E"/>
                </a:solidFill>
                <a:latin typeface="Calibri"/>
              </a:rPr>
              <a:t>of judgment cases reach a named human before any decision is recorded</a:t>
            </a:r>
          </a:p>
        </p:txBody>
      </p:sp>
      <p:sp>
        <p:nvSpPr>
          <p:cNvPr id="20" name="TextBox 19"/>
          <p:cNvSpPr txBox="1"/>
          <p:nvPr/>
        </p:nvSpPr>
        <p:spPr>
          <a:xfrm>
            <a:off x="2926080" y="5486400"/>
            <a:ext cx="6858000" cy="365760"/>
          </a:xfrm>
          <a:prstGeom prst="rect">
            <a:avLst/>
          </a:prstGeom>
          <a:noFill/>
        </p:spPr>
        <p:txBody>
          <a:bodyPr wrap="square" lIns="0" rIns="0" tIns="0" bIns="0" anchor="t">
            <a:spAutoFit/>
          </a:bodyPr>
          <a:lstStyle/>
          <a:p>
            <a:pPr algn="l">
              <a:lnSpc>
                <a:spcPct val="115000"/>
              </a:lnSpc>
            </a:pPr>
            <a:r>
              <a:rPr sz="1100" b="0">
                <a:solidFill>
                  <a:srgbClr val="6B6A66"/>
                </a:solidFill>
                <a:latin typeface="Calibri"/>
              </a:rPr>
              <a:t>Non-negotiable — this is the boundary</a:t>
            </a:r>
          </a:p>
        </p:txBody>
      </p:sp>
      <p:sp>
        <p:nvSpPr>
          <p:cNvPr id="21" name="TextBox 20"/>
          <p:cNvSpPr txBox="1"/>
          <p:nvPr/>
        </p:nvSpPr>
        <p:spPr>
          <a:xfrm>
            <a:off x="11094415" y="6446520"/>
            <a:ext cx="822960" cy="274320"/>
          </a:xfrm>
          <a:prstGeom prst="rect">
            <a:avLst/>
          </a:prstGeom>
          <a:noFill/>
        </p:spPr>
        <p:txBody>
          <a:bodyPr wrap="square" lIns="0" rIns="0" tIns="0" bIns="0" anchor="t">
            <a:spAutoFit/>
          </a:bodyPr>
          <a:lstStyle/>
          <a:p>
            <a:pPr algn="r">
              <a:lnSpc>
                <a:spcPct val="115000"/>
              </a:lnSpc>
            </a:pPr>
            <a:r>
              <a:rPr sz="1000" b="0">
                <a:solidFill>
                  <a:srgbClr val="6B6A66"/>
                </a:solidFill>
                <a:latin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728655" cy="320040"/>
          </a:xfrm>
          <a:prstGeom prst="rect">
            <a:avLst/>
          </a:prstGeom>
          <a:noFill/>
        </p:spPr>
        <p:txBody>
          <a:bodyPr wrap="square" lIns="0" rIns="0" tIns="0" bIns="0" anchor="t">
            <a:spAutoFit/>
          </a:bodyPr>
          <a:lstStyle/>
          <a:p>
            <a:pPr algn="l">
              <a:lnSpc>
                <a:spcPct val="115000"/>
              </a:lnSpc>
            </a:pPr>
            <a:r>
              <a:rPr sz="1100" b="1">
                <a:solidFill>
                  <a:srgbClr val="D97757"/>
                </a:solidFill>
                <a:latin typeface="Calibri"/>
              </a:rPr>
              <a:t>WHAT WE STILL NEED TO VALIDATE</a:t>
            </a:r>
          </a:p>
        </p:txBody>
      </p:sp>
      <p:sp>
        <p:nvSpPr>
          <p:cNvPr id="4" name="TextBox 3"/>
          <p:cNvSpPr txBox="1"/>
          <p:nvPr/>
        </p:nvSpPr>
        <p:spPr>
          <a:xfrm>
            <a:off x="731520" y="960120"/>
            <a:ext cx="10728655" cy="822960"/>
          </a:xfrm>
          <a:prstGeom prst="rect">
            <a:avLst/>
          </a:prstGeom>
          <a:noFill/>
        </p:spPr>
        <p:txBody>
          <a:bodyPr wrap="square" lIns="0" rIns="0" tIns="0" bIns="0" anchor="t">
            <a:spAutoFit/>
          </a:bodyPr>
          <a:lstStyle/>
          <a:p>
            <a:pPr algn="l">
              <a:lnSpc>
                <a:spcPct val="115000"/>
              </a:lnSpc>
            </a:pPr>
            <a:r>
              <a:rPr sz="3200" b="1">
                <a:solidFill>
                  <a:srgbClr val="1F1F1E"/>
                </a:solidFill>
                <a:latin typeface="Calibri"/>
              </a:rPr>
              <a:t>Three questions we need answered before we build past the first pass</a:t>
            </a:r>
          </a:p>
        </p:txBody>
      </p:sp>
      <p:cxnSp>
        <p:nvCxnSpPr>
          <p:cNvPr id="5" name="Connector 4"/>
          <p:cNvCxnSpPr/>
          <p:nvPr/>
        </p:nvCxnSpPr>
        <p:spPr>
          <a:xfrm>
            <a:off x="731520" y="1783080"/>
            <a:ext cx="1371600" cy="0"/>
          </a:xfrm>
          <a:prstGeom prst="line">
            <a:avLst/>
          </a:prstGeom>
          <a:ln w="19050">
            <a:solidFill>
              <a:srgbClr val="D9775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2194560"/>
            <a:ext cx="822960" cy="1234440"/>
          </a:xfrm>
          <a:prstGeom prst="rect">
            <a:avLst/>
          </a:prstGeom>
          <a:noFill/>
        </p:spPr>
        <p:txBody>
          <a:bodyPr wrap="square" lIns="0" rIns="0" tIns="0" bIns="0" anchor="t">
            <a:spAutoFit/>
          </a:bodyPr>
          <a:lstStyle/>
          <a:p>
            <a:pPr algn="l">
              <a:lnSpc>
                <a:spcPct val="115000"/>
              </a:lnSpc>
            </a:pPr>
            <a:r>
              <a:rPr sz="2600" b="1">
                <a:solidFill>
                  <a:srgbClr val="D97757"/>
                </a:solidFill>
                <a:latin typeface="Calibri"/>
              </a:rPr>
              <a:t>01</a:t>
            </a:r>
          </a:p>
        </p:txBody>
      </p:sp>
      <p:sp>
        <p:nvSpPr>
          <p:cNvPr id="7" name="TextBox 6"/>
          <p:cNvSpPr txBox="1"/>
          <p:nvPr/>
        </p:nvSpPr>
        <p:spPr>
          <a:xfrm>
            <a:off x="1645920" y="2194560"/>
            <a:ext cx="9814255" cy="365760"/>
          </a:xfrm>
          <a:prstGeom prst="rect">
            <a:avLst/>
          </a:prstGeom>
          <a:noFill/>
        </p:spPr>
        <p:txBody>
          <a:bodyPr wrap="square" lIns="0" rIns="0" tIns="0" bIns="0" anchor="t">
            <a:spAutoFit/>
          </a:bodyPr>
          <a:lstStyle/>
          <a:p>
            <a:pPr algn="l">
              <a:lnSpc>
                <a:spcPct val="115000"/>
              </a:lnSpc>
            </a:pPr>
            <a:r>
              <a:rPr sz="1700" b="1">
                <a:solidFill>
                  <a:srgbClr val="1F1F1E"/>
                </a:solidFill>
                <a:latin typeface="Calibri"/>
              </a:rPr>
              <a:t>The six systems</a:t>
            </a:r>
          </a:p>
        </p:txBody>
      </p:sp>
      <p:sp>
        <p:nvSpPr>
          <p:cNvPr id="8" name="TextBox 7"/>
          <p:cNvSpPr txBox="1"/>
          <p:nvPr/>
        </p:nvSpPr>
        <p:spPr>
          <a:xfrm>
            <a:off x="1645920" y="2606040"/>
            <a:ext cx="9814255" cy="777240"/>
          </a:xfrm>
          <a:prstGeom prst="rect">
            <a:avLst/>
          </a:prstGeom>
          <a:noFill/>
        </p:spPr>
        <p:txBody>
          <a:bodyPr wrap="square" lIns="0" rIns="0" tIns="0" bIns="0" anchor="t">
            <a:spAutoFit/>
          </a:bodyPr>
          <a:lstStyle/>
          <a:p>
            <a:pPr algn="l">
              <a:lnSpc>
                <a:spcPct val="135000"/>
              </a:lnSpc>
            </a:pPr>
            <a:r>
              <a:rPr sz="1300" b="0">
                <a:solidFill>
                  <a:srgbClr val="6B6A66"/>
                </a:solidFill>
                <a:latin typeface="Calibri"/>
              </a:rPr>
              <a:t>The scenario names four: Workday, ServiceNow, the LMS, and email. We need the other two named before benefits tasks can be built.</a:t>
            </a:r>
          </a:p>
        </p:txBody>
      </p:sp>
      <p:sp>
        <p:nvSpPr>
          <p:cNvPr id="9" name="TextBox 8"/>
          <p:cNvSpPr txBox="1"/>
          <p:nvPr/>
        </p:nvSpPr>
        <p:spPr>
          <a:xfrm>
            <a:off x="731520" y="3429000"/>
            <a:ext cx="822960" cy="1234440"/>
          </a:xfrm>
          <a:prstGeom prst="rect">
            <a:avLst/>
          </a:prstGeom>
          <a:noFill/>
        </p:spPr>
        <p:txBody>
          <a:bodyPr wrap="square" lIns="0" rIns="0" tIns="0" bIns="0" anchor="t">
            <a:spAutoFit/>
          </a:bodyPr>
          <a:lstStyle/>
          <a:p>
            <a:pPr algn="l">
              <a:lnSpc>
                <a:spcPct val="115000"/>
              </a:lnSpc>
            </a:pPr>
            <a:r>
              <a:rPr sz="2600" b="1">
                <a:solidFill>
                  <a:srgbClr val="D97757"/>
                </a:solidFill>
                <a:latin typeface="Calibri"/>
              </a:rPr>
              <a:t>02</a:t>
            </a:r>
          </a:p>
        </p:txBody>
      </p:sp>
      <p:sp>
        <p:nvSpPr>
          <p:cNvPr id="10" name="TextBox 9"/>
          <p:cNvSpPr txBox="1"/>
          <p:nvPr/>
        </p:nvSpPr>
        <p:spPr>
          <a:xfrm>
            <a:off x="1645920" y="3429000"/>
            <a:ext cx="9814255" cy="365760"/>
          </a:xfrm>
          <a:prstGeom prst="rect">
            <a:avLst/>
          </a:prstGeom>
          <a:noFill/>
        </p:spPr>
        <p:txBody>
          <a:bodyPr wrap="square" lIns="0" rIns="0" tIns="0" bIns="0" anchor="t">
            <a:spAutoFit/>
          </a:bodyPr>
          <a:lstStyle/>
          <a:p>
            <a:pPr algn="l">
              <a:lnSpc>
                <a:spcPct val="115000"/>
              </a:lnSpc>
            </a:pPr>
            <a:r>
              <a:rPr sz="1700" b="1">
                <a:solidFill>
                  <a:srgbClr val="1F1F1E"/>
                </a:solidFill>
                <a:latin typeface="Calibri"/>
              </a:rPr>
              <a:t>Who sets employment classification</a:t>
            </a:r>
          </a:p>
        </p:txBody>
      </p:sp>
      <p:sp>
        <p:nvSpPr>
          <p:cNvPr id="11" name="TextBox 10"/>
          <p:cNvSpPr txBox="1"/>
          <p:nvPr/>
        </p:nvSpPr>
        <p:spPr>
          <a:xfrm>
            <a:off x="1645920" y="3840480"/>
            <a:ext cx="9814255" cy="777240"/>
          </a:xfrm>
          <a:prstGeom prst="rect">
            <a:avLst/>
          </a:prstGeom>
          <a:noFill/>
        </p:spPr>
        <p:txBody>
          <a:bodyPr wrap="square" lIns="0" rIns="0" tIns="0" bIns="0" anchor="t">
            <a:spAutoFit/>
          </a:bodyPr>
          <a:lstStyle/>
          <a:p>
            <a:pPr algn="l">
              <a:lnSpc>
                <a:spcPct val="135000"/>
              </a:lnSpc>
            </a:pPr>
            <a:r>
              <a:rPr sz="1300" b="0">
                <a:solidFill>
                  <a:srgbClr val="6B6A66"/>
                </a:solidFill>
                <a:latin typeface="Calibri"/>
              </a:rPr>
              <a:t>The agent cannot set contractor vs. employee. We need to confirm HR Ops owns that decision in Workday — not Legal, not Payroll.</a:t>
            </a:r>
          </a:p>
        </p:txBody>
      </p:sp>
      <p:sp>
        <p:nvSpPr>
          <p:cNvPr id="12" name="TextBox 11"/>
          <p:cNvSpPr txBox="1"/>
          <p:nvPr/>
        </p:nvSpPr>
        <p:spPr>
          <a:xfrm>
            <a:off x="731520" y="4663440"/>
            <a:ext cx="822960" cy="1234440"/>
          </a:xfrm>
          <a:prstGeom prst="rect">
            <a:avLst/>
          </a:prstGeom>
          <a:noFill/>
        </p:spPr>
        <p:txBody>
          <a:bodyPr wrap="square" lIns="0" rIns="0" tIns="0" bIns="0" anchor="t">
            <a:spAutoFit/>
          </a:bodyPr>
          <a:lstStyle/>
          <a:p>
            <a:pPr algn="l">
              <a:lnSpc>
                <a:spcPct val="115000"/>
              </a:lnSpc>
            </a:pPr>
            <a:r>
              <a:rPr sz="2600" b="1">
                <a:solidFill>
                  <a:srgbClr val="D97757"/>
                </a:solidFill>
                <a:latin typeface="Calibri"/>
              </a:rPr>
              <a:t>03</a:t>
            </a:r>
          </a:p>
        </p:txBody>
      </p:sp>
      <p:sp>
        <p:nvSpPr>
          <p:cNvPr id="13" name="TextBox 12"/>
          <p:cNvSpPr txBox="1"/>
          <p:nvPr/>
        </p:nvSpPr>
        <p:spPr>
          <a:xfrm>
            <a:off x="1645920" y="4663440"/>
            <a:ext cx="9814255" cy="365760"/>
          </a:xfrm>
          <a:prstGeom prst="rect">
            <a:avLst/>
          </a:prstGeom>
          <a:noFill/>
        </p:spPr>
        <p:txBody>
          <a:bodyPr wrap="square" lIns="0" rIns="0" tIns="0" bIns="0" anchor="t">
            <a:spAutoFit/>
          </a:bodyPr>
          <a:lstStyle/>
          <a:p>
            <a:pPr algn="l">
              <a:lnSpc>
                <a:spcPct val="115000"/>
              </a:lnSpc>
            </a:pPr>
            <a:r>
              <a:rPr sz="1700" b="1">
                <a:solidFill>
                  <a:srgbClr val="1F1F1E"/>
                </a:solidFill>
                <a:latin typeface="Calibri"/>
              </a:rPr>
              <a:t>Is the 80% routine-delegation target realistic</a:t>
            </a:r>
          </a:p>
        </p:txBody>
      </p:sp>
      <p:sp>
        <p:nvSpPr>
          <p:cNvPr id="14" name="TextBox 13"/>
          <p:cNvSpPr txBox="1"/>
          <p:nvPr/>
        </p:nvSpPr>
        <p:spPr>
          <a:xfrm>
            <a:off x="1645920" y="5074920"/>
            <a:ext cx="9814255" cy="777240"/>
          </a:xfrm>
          <a:prstGeom prst="rect">
            <a:avLst/>
          </a:prstGeom>
          <a:noFill/>
        </p:spPr>
        <p:txBody>
          <a:bodyPr wrap="square" lIns="0" rIns="0" tIns="0" bIns="0" anchor="t">
            <a:spAutoFit/>
          </a:bodyPr>
          <a:lstStyle/>
          <a:p>
            <a:pPr algn="l">
              <a:lnSpc>
                <a:spcPct val="135000"/>
              </a:lnSpc>
            </a:pPr>
            <a:r>
              <a:rPr sz="1300" b="0">
                <a:solidFill>
                  <a:srgbClr val="6B6A66"/>
                </a:solidFill>
                <a:latin typeface="Calibri"/>
              </a:rPr>
              <a:t>Walking the 40-task template with HR Ops would tell us how often 'routine' tasks actually need a human eye in practice.</a:t>
            </a:r>
          </a:p>
        </p:txBody>
      </p:sp>
      <p:sp>
        <p:nvSpPr>
          <p:cNvPr id="15" name="TextBox 14"/>
          <p:cNvSpPr txBox="1"/>
          <p:nvPr/>
        </p:nvSpPr>
        <p:spPr>
          <a:xfrm>
            <a:off x="731520" y="6446520"/>
            <a:ext cx="7315200" cy="274320"/>
          </a:xfrm>
          <a:prstGeom prst="rect">
            <a:avLst/>
          </a:prstGeom>
          <a:noFill/>
        </p:spPr>
        <p:txBody>
          <a:bodyPr wrap="square" lIns="0" rIns="0" tIns="0" bIns="0" anchor="t">
            <a:spAutoFit/>
          </a:bodyPr>
          <a:lstStyle/>
          <a:p>
            <a:pPr algn="l">
              <a:lnSpc>
                <a:spcPct val="115000"/>
              </a:lnSpc>
            </a:pPr>
            <a:r>
              <a:rPr sz="1000" b="0">
                <a:solidFill>
                  <a:srgbClr val="6B6A66"/>
                </a:solidFill>
                <a:latin typeface="Calibri"/>
              </a:rPr>
              <a:t>Full assumption log (9 items with hypotheses and confidence) in the spec.</a:t>
            </a:r>
          </a:p>
        </p:txBody>
      </p:sp>
      <p:sp>
        <p:nvSpPr>
          <p:cNvPr id="16" name="TextBox 15"/>
          <p:cNvSpPr txBox="1"/>
          <p:nvPr/>
        </p:nvSpPr>
        <p:spPr>
          <a:xfrm>
            <a:off x="11094415" y="6446520"/>
            <a:ext cx="822960" cy="274320"/>
          </a:xfrm>
          <a:prstGeom prst="rect">
            <a:avLst/>
          </a:prstGeom>
          <a:noFill/>
        </p:spPr>
        <p:txBody>
          <a:bodyPr wrap="square" lIns="0" rIns="0" tIns="0" bIns="0" anchor="t">
            <a:spAutoFit/>
          </a:bodyPr>
          <a:lstStyle/>
          <a:p>
            <a:pPr algn="r">
              <a:lnSpc>
                <a:spcPct val="115000"/>
              </a:lnSpc>
            </a:pPr>
            <a:r>
              <a:rPr sz="1000" b="0">
                <a:solidFill>
                  <a:srgbClr val="6B6A66"/>
                </a:solidFill>
                <a:latin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728655" cy="320040"/>
          </a:xfrm>
          <a:prstGeom prst="rect">
            <a:avLst/>
          </a:prstGeom>
          <a:noFill/>
        </p:spPr>
        <p:txBody>
          <a:bodyPr wrap="square" lIns="0" rIns="0" tIns="0" bIns="0" anchor="t">
            <a:spAutoFit/>
          </a:bodyPr>
          <a:lstStyle/>
          <a:p>
            <a:pPr algn="l">
              <a:lnSpc>
                <a:spcPct val="115000"/>
              </a:lnSpc>
            </a:pPr>
            <a:r>
              <a:rPr sz="1100" b="1">
                <a:solidFill>
                  <a:srgbClr val="D97757"/>
                </a:solidFill>
                <a:latin typeface="Calibri"/>
              </a:rPr>
              <a:t>WHAT COULD GO WRONG</a:t>
            </a:r>
          </a:p>
        </p:txBody>
      </p:sp>
      <p:sp>
        <p:nvSpPr>
          <p:cNvPr id="4" name="TextBox 3"/>
          <p:cNvSpPr txBox="1"/>
          <p:nvPr/>
        </p:nvSpPr>
        <p:spPr>
          <a:xfrm>
            <a:off x="731520" y="960120"/>
            <a:ext cx="10728655" cy="822960"/>
          </a:xfrm>
          <a:prstGeom prst="rect">
            <a:avLst/>
          </a:prstGeom>
          <a:noFill/>
        </p:spPr>
        <p:txBody>
          <a:bodyPr wrap="square" lIns="0" rIns="0" tIns="0" bIns="0" anchor="t">
            <a:spAutoFit/>
          </a:bodyPr>
          <a:lstStyle/>
          <a:p>
            <a:pPr algn="l">
              <a:lnSpc>
                <a:spcPct val="115000"/>
              </a:lnSpc>
            </a:pPr>
            <a:r>
              <a:rPr sz="3200" b="1">
                <a:solidFill>
                  <a:srgbClr val="1F1F1E"/>
                </a:solidFill>
                <a:latin typeface="Calibri"/>
              </a:rPr>
              <a:t>And how the design absorbs it</a:t>
            </a:r>
          </a:p>
        </p:txBody>
      </p:sp>
      <p:cxnSp>
        <p:nvCxnSpPr>
          <p:cNvPr id="5" name="Connector 4"/>
          <p:cNvCxnSpPr/>
          <p:nvPr/>
        </p:nvCxnSpPr>
        <p:spPr>
          <a:xfrm>
            <a:off x="731520" y="1783080"/>
            <a:ext cx="1371600" cy="0"/>
          </a:xfrm>
          <a:prstGeom prst="line">
            <a:avLst/>
          </a:prstGeom>
          <a:ln w="19050">
            <a:solidFill>
              <a:srgbClr val="D9775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2194560"/>
            <a:ext cx="320040" cy="320040"/>
          </a:xfrm>
          <a:prstGeom prst="rect">
            <a:avLst/>
          </a:prstGeom>
          <a:noFill/>
        </p:spPr>
        <p:txBody>
          <a:bodyPr wrap="square" lIns="0" rIns="0" tIns="0" bIns="0" anchor="t">
            <a:spAutoFit/>
          </a:bodyPr>
          <a:lstStyle/>
          <a:p>
            <a:pPr algn="l">
              <a:lnSpc>
                <a:spcPct val="115000"/>
              </a:lnSpc>
            </a:pPr>
            <a:r>
              <a:rPr sz="1800" b="1">
                <a:solidFill>
                  <a:srgbClr val="D97757"/>
                </a:solidFill>
                <a:latin typeface="Calibri"/>
              </a:rPr>
              <a:t>→</a:t>
            </a:r>
          </a:p>
        </p:txBody>
      </p:sp>
      <p:sp>
        <p:nvSpPr>
          <p:cNvPr id="7" name="TextBox 6"/>
          <p:cNvSpPr txBox="1"/>
          <p:nvPr/>
        </p:nvSpPr>
        <p:spPr>
          <a:xfrm>
            <a:off x="1143000" y="2103120"/>
            <a:ext cx="3657600" cy="365760"/>
          </a:xfrm>
          <a:prstGeom prst="rect">
            <a:avLst/>
          </a:prstGeom>
          <a:noFill/>
        </p:spPr>
        <p:txBody>
          <a:bodyPr wrap="square" lIns="0" rIns="0" tIns="0" bIns="0" anchor="t">
            <a:spAutoFit/>
          </a:bodyPr>
          <a:lstStyle/>
          <a:p>
            <a:pPr algn="l">
              <a:lnSpc>
                <a:spcPct val="115000"/>
              </a:lnSpc>
            </a:pPr>
            <a:r>
              <a:rPr sz="1500" b="1">
                <a:solidFill>
                  <a:srgbClr val="1F1F1E"/>
                </a:solidFill>
                <a:latin typeface="Calibri"/>
              </a:rPr>
              <a:t>An integration goes down</a:t>
            </a:r>
          </a:p>
        </p:txBody>
      </p:sp>
      <p:sp>
        <p:nvSpPr>
          <p:cNvPr id="8" name="TextBox 7"/>
          <p:cNvSpPr txBox="1"/>
          <p:nvPr/>
        </p:nvSpPr>
        <p:spPr>
          <a:xfrm>
            <a:off x="4937760" y="2103120"/>
            <a:ext cx="6522415" cy="822960"/>
          </a:xfrm>
          <a:prstGeom prst="rect">
            <a:avLst/>
          </a:prstGeom>
          <a:noFill/>
        </p:spPr>
        <p:txBody>
          <a:bodyPr wrap="square" lIns="0" rIns="0" tIns="0" bIns="0" anchor="t">
            <a:spAutoFit/>
          </a:bodyPr>
          <a:lstStyle/>
          <a:p>
            <a:pPr algn="l">
              <a:lnSpc>
                <a:spcPct val="135000"/>
              </a:lnSpc>
            </a:pPr>
            <a:r>
              <a:rPr sz="1300" b="0">
                <a:solidFill>
                  <a:srgbClr val="6B6A66"/>
                </a:solidFill>
                <a:latin typeface="Calibri"/>
              </a:rPr>
              <a:t>The agent queues work, retries on a schedule, and flags Ops if the outage persists. Nothing is silently dropped.</a:t>
            </a:r>
          </a:p>
        </p:txBody>
      </p:sp>
      <p:cxnSp>
        <p:nvCxnSpPr>
          <p:cNvPr id="9" name="Connector 8"/>
          <p:cNvCxnSpPr/>
          <p:nvPr/>
        </p:nvCxnSpPr>
        <p:spPr>
          <a:xfrm>
            <a:off x="731520" y="2926080"/>
            <a:ext cx="10728655" cy="0"/>
          </a:xfrm>
          <a:prstGeom prst="line">
            <a:avLst/>
          </a:prstGeom>
          <a:ln w="9525">
            <a:solidFill>
              <a:srgbClr val="E2DFD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3108960"/>
            <a:ext cx="320040" cy="320040"/>
          </a:xfrm>
          <a:prstGeom prst="rect">
            <a:avLst/>
          </a:prstGeom>
          <a:noFill/>
        </p:spPr>
        <p:txBody>
          <a:bodyPr wrap="square" lIns="0" rIns="0" tIns="0" bIns="0" anchor="t">
            <a:spAutoFit/>
          </a:bodyPr>
          <a:lstStyle/>
          <a:p>
            <a:pPr algn="l">
              <a:lnSpc>
                <a:spcPct val="115000"/>
              </a:lnSpc>
            </a:pPr>
            <a:r>
              <a:rPr sz="1800" b="1">
                <a:solidFill>
                  <a:srgbClr val="D97757"/>
                </a:solidFill>
                <a:latin typeface="Calibri"/>
              </a:rPr>
              <a:t>→</a:t>
            </a:r>
          </a:p>
        </p:txBody>
      </p:sp>
      <p:sp>
        <p:nvSpPr>
          <p:cNvPr id="11" name="TextBox 10"/>
          <p:cNvSpPr txBox="1"/>
          <p:nvPr/>
        </p:nvSpPr>
        <p:spPr>
          <a:xfrm>
            <a:off x="1143000" y="3017520"/>
            <a:ext cx="3657600" cy="365760"/>
          </a:xfrm>
          <a:prstGeom prst="rect">
            <a:avLst/>
          </a:prstGeom>
          <a:noFill/>
        </p:spPr>
        <p:txBody>
          <a:bodyPr wrap="square" lIns="0" rIns="0" tIns="0" bIns="0" anchor="t">
            <a:spAutoFit/>
          </a:bodyPr>
          <a:lstStyle/>
          <a:p>
            <a:pPr algn="l">
              <a:lnSpc>
                <a:spcPct val="115000"/>
              </a:lnSpc>
            </a:pPr>
            <a:r>
              <a:rPr sz="1500" b="1">
                <a:solidFill>
                  <a:srgbClr val="1F1F1E"/>
                </a:solidFill>
                <a:latin typeface="Calibri"/>
              </a:rPr>
              <a:t>A judgment case is misrouted as routine</a:t>
            </a:r>
          </a:p>
        </p:txBody>
      </p:sp>
      <p:sp>
        <p:nvSpPr>
          <p:cNvPr id="12" name="TextBox 11"/>
          <p:cNvSpPr txBox="1"/>
          <p:nvPr/>
        </p:nvSpPr>
        <p:spPr>
          <a:xfrm>
            <a:off x="4937760" y="3017520"/>
            <a:ext cx="6522415" cy="822960"/>
          </a:xfrm>
          <a:prstGeom prst="rect">
            <a:avLst/>
          </a:prstGeom>
          <a:noFill/>
        </p:spPr>
        <p:txBody>
          <a:bodyPr wrap="square" lIns="0" rIns="0" tIns="0" bIns="0" anchor="t">
            <a:spAutoFit/>
          </a:bodyPr>
          <a:lstStyle/>
          <a:p>
            <a:pPr algn="l">
              <a:lnSpc>
                <a:spcPct val="135000"/>
              </a:lnSpc>
            </a:pPr>
            <a:r>
              <a:rPr sz="1300" b="0">
                <a:solidFill>
                  <a:srgbClr val="6B6A66"/>
                </a:solidFill>
                <a:latin typeface="Calibri"/>
              </a:rPr>
              <a:t>Every task carries a delegation class. Judgment classes cannot be marked complete by the agent — only by a logged human action.</a:t>
            </a:r>
          </a:p>
        </p:txBody>
      </p:sp>
      <p:cxnSp>
        <p:nvCxnSpPr>
          <p:cNvPr id="13" name="Connector 12"/>
          <p:cNvCxnSpPr/>
          <p:nvPr/>
        </p:nvCxnSpPr>
        <p:spPr>
          <a:xfrm>
            <a:off x="731520" y="3840480"/>
            <a:ext cx="10728655" cy="0"/>
          </a:xfrm>
          <a:prstGeom prst="line">
            <a:avLst/>
          </a:prstGeom>
          <a:ln w="9525">
            <a:solidFill>
              <a:srgbClr val="E2DFD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4023360"/>
            <a:ext cx="320040" cy="320040"/>
          </a:xfrm>
          <a:prstGeom prst="rect">
            <a:avLst/>
          </a:prstGeom>
          <a:noFill/>
        </p:spPr>
        <p:txBody>
          <a:bodyPr wrap="square" lIns="0" rIns="0" tIns="0" bIns="0" anchor="t">
            <a:spAutoFit/>
          </a:bodyPr>
          <a:lstStyle/>
          <a:p>
            <a:pPr algn="l">
              <a:lnSpc>
                <a:spcPct val="115000"/>
              </a:lnSpc>
            </a:pPr>
            <a:r>
              <a:rPr sz="1800" b="1">
                <a:solidFill>
                  <a:srgbClr val="D97757"/>
                </a:solidFill>
                <a:latin typeface="Calibri"/>
              </a:rPr>
              <a:t>→</a:t>
            </a:r>
          </a:p>
        </p:txBody>
      </p:sp>
      <p:sp>
        <p:nvSpPr>
          <p:cNvPr id="15" name="TextBox 14"/>
          <p:cNvSpPr txBox="1"/>
          <p:nvPr/>
        </p:nvSpPr>
        <p:spPr>
          <a:xfrm>
            <a:off x="1143000" y="3931920"/>
            <a:ext cx="3657600" cy="365760"/>
          </a:xfrm>
          <a:prstGeom prst="rect">
            <a:avLst/>
          </a:prstGeom>
          <a:noFill/>
        </p:spPr>
        <p:txBody>
          <a:bodyPr wrap="square" lIns="0" rIns="0" tIns="0" bIns="0" anchor="t">
            <a:spAutoFit/>
          </a:bodyPr>
          <a:lstStyle/>
          <a:p>
            <a:pPr algn="l">
              <a:lnSpc>
                <a:spcPct val="115000"/>
              </a:lnSpc>
            </a:pPr>
            <a:r>
              <a:rPr sz="1500" b="1">
                <a:solidFill>
                  <a:srgbClr val="1F1F1E"/>
                </a:solidFill>
                <a:latin typeface="Calibri"/>
              </a:rPr>
              <a:t>A human doesn't respond in time</a:t>
            </a:r>
          </a:p>
        </p:txBody>
      </p:sp>
      <p:sp>
        <p:nvSpPr>
          <p:cNvPr id="16" name="TextBox 15"/>
          <p:cNvSpPr txBox="1"/>
          <p:nvPr/>
        </p:nvSpPr>
        <p:spPr>
          <a:xfrm>
            <a:off x="4937760" y="3931920"/>
            <a:ext cx="6522415" cy="822960"/>
          </a:xfrm>
          <a:prstGeom prst="rect">
            <a:avLst/>
          </a:prstGeom>
          <a:noFill/>
        </p:spPr>
        <p:txBody>
          <a:bodyPr wrap="square" lIns="0" rIns="0" tIns="0" bIns="0" anchor="t">
            <a:spAutoFit/>
          </a:bodyPr>
          <a:lstStyle/>
          <a:p>
            <a:pPr algn="l">
              <a:lnSpc>
                <a:spcPct val="135000"/>
              </a:lnSpc>
            </a:pPr>
            <a:r>
              <a:rPr sz="1300" b="0">
                <a:solidFill>
                  <a:srgbClr val="6B6A66"/>
                </a:solidFill>
                <a:latin typeface="Calibri"/>
              </a:rPr>
              <a:t>Every escalation has a named owner and an SLA. Overdue items surface in a day-14 audit to the HR Ops lead.</a:t>
            </a:r>
          </a:p>
        </p:txBody>
      </p:sp>
      <p:cxnSp>
        <p:nvCxnSpPr>
          <p:cNvPr id="17" name="Connector 16"/>
          <p:cNvCxnSpPr/>
          <p:nvPr/>
        </p:nvCxnSpPr>
        <p:spPr>
          <a:xfrm>
            <a:off x="731520" y="4754880"/>
            <a:ext cx="10728655" cy="0"/>
          </a:xfrm>
          <a:prstGeom prst="line">
            <a:avLst/>
          </a:prstGeom>
          <a:ln w="9525">
            <a:solidFill>
              <a:srgbClr val="E2DFD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31520" y="4937760"/>
            <a:ext cx="320040" cy="320040"/>
          </a:xfrm>
          <a:prstGeom prst="rect">
            <a:avLst/>
          </a:prstGeom>
          <a:noFill/>
        </p:spPr>
        <p:txBody>
          <a:bodyPr wrap="square" lIns="0" rIns="0" tIns="0" bIns="0" anchor="t">
            <a:spAutoFit/>
          </a:bodyPr>
          <a:lstStyle/>
          <a:p>
            <a:pPr algn="l">
              <a:lnSpc>
                <a:spcPct val="115000"/>
              </a:lnSpc>
            </a:pPr>
            <a:r>
              <a:rPr sz="1800" b="1">
                <a:solidFill>
                  <a:srgbClr val="D97757"/>
                </a:solidFill>
                <a:latin typeface="Calibri"/>
              </a:rPr>
              <a:t>→</a:t>
            </a:r>
          </a:p>
        </p:txBody>
      </p:sp>
      <p:sp>
        <p:nvSpPr>
          <p:cNvPr id="19" name="TextBox 18"/>
          <p:cNvSpPr txBox="1"/>
          <p:nvPr/>
        </p:nvSpPr>
        <p:spPr>
          <a:xfrm>
            <a:off x="1143000" y="4846320"/>
            <a:ext cx="3657600" cy="365760"/>
          </a:xfrm>
          <a:prstGeom prst="rect">
            <a:avLst/>
          </a:prstGeom>
          <a:noFill/>
        </p:spPr>
        <p:txBody>
          <a:bodyPr wrap="square" lIns="0" rIns="0" tIns="0" bIns="0" anchor="t">
            <a:spAutoFit/>
          </a:bodyPr>
          <a:lstStyle/>
          <a:p>
            <a:pPr algn="l">
              <a:lnSpc>
                <a:spcPct val="115000"/>
              </a:lnSpc>
            </a:pPr>
            <a:r>
              <a:rPr sz="1500" b="1">
                <a:solidFill>
                  <a:srgbClr val="1F1F1E"/>
                </a:solidFill>
                <a:latin typeface="Calibri"/>
              </a:rPr>
              <a:t>The spec is wrong somewhere</a:t>
            </a:r>
          </a:p>
        </p:txBody>
      </p:sp>
      <p:sp>
        <p:nvSpPr>
          <p:cNvPr id="20" name="TextBox 19"/>
          <p:cNvSpPr txBox="1"/>
          <p:nvPr/>
        </p:nvSpPr>
        <p:spPr>
          <a:xfrm>
            <a:off x="4937760" y="4846320"/>
            <a:ext cx="6522415" cy="822960"/>
          </a:xfrm>
          <a:prstGeom prst="rect">
            <a:avLst/>
          </a:prstGeom>
          <a:noFill/>
        </p:spPr>
        <p:txBody>
          <a:bodyPr wrap="square" lIns="0" rIns="0" tIns="0" bIns="0" anchor="t">
            <a:spAutoFit/>
          </a:bodyPr>
          <a:lstStyle/>
          <a:p>
            <a:pPr algn="l">
              <a:lnSpc>
                <a:spcPct val="135000"/>
              </a:lnSpc>
            </a:pPr>
            <a:r>
              <a:rPr sz="1300" b="0">
                <a:solidFill>
                  <a:srgbClr val="6B6A66"/>
                </a:solidFill>
                <a:latin typeface="Calibri"/>
              </a:rPr>
              <a:t>A closed build loop against an AI coding agent is run this week to pressure-test the spec. Gaps surface as diagnosable mismatches, not production bugs.</a:t>
            </a:r>
          </a:p>
        </p:txBody>
      </p:sp>
      <p:sp>
        <p:nvSpPr>
          <p:cNvPr id="21" name="TextBox 20"/>
          <p:cNvSpPr txBox="1"/>
          <p:nvPr/>
        </p:nvSpPr>
        <p:spPr>
          <a:xfrm>
            <a:off x="11094415" y="6446520"/>
            <a:ext cx="822960" cy="274320"/>
          </a:xfrm>
          <a:prstGeom prst="rect">
            <a:avLst/>
          </a:prstGeom>
          <a:noFill/>
        </p:spPr>
        <p:txBody>
          <a:bodyPr wrap="square" lIns="0" rIns="0" tIns="0" bIns="0" anchor="t">
            <a:spAutoFit/>
          </a:bodyPr>
          <a:lstStyle/>
          <a:p>
            <a:pPr algn="r">
              <a:lnSpc>
                <a:spcPct val="115000"/>
              </a:lnSpc>
            </a:pPr>
            <a:r>
              <a:rPr sz="1000" b="0">
                <a:solidFill>
                  <a:srgbClr val="6B6A66"/>
                </a:solidFill>
                <a:latin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728655" cy="320040"/>
          </a:xfrm>
          <a:prstGeom prst="rect">
            <a:avLst/>
          </a:prstGeom>
          <a:noFill/>
        </p:spPr>
        <p:txBody>
          <a:bodyPr wrap="square" lIns="0" rIns="0" tIns="0" bIns="0" anchor="t">
            <a:spAutoFit/>
          </a:bodyPr>
          <a:lstStyle/>
          <a:p>
            <a:pPr algn="l">
              <a:lnSpc>
                <a:spcPct val="115000"/>
              </a:lnSpc>
            </a:pPr>
            <a:r>
              <a:rPr sz="1100" b="1">
                <a:solidFill>
                  <a:srgbClr val="D97757"/>
                </a:solidFill>
                <a:latin typeface="Calibri"/>
              </a:rPr>
              <a:t>WHAT WE'RE ASKING FOR</a:t>
            </a:r>
          </a:p>
        </p:txBody>
      </p:sp>
      <p:sp>
        <p:nvSpPr>
          <p:cNvPr id="4" name="TextBox 3"/>
          <p:cNvSpPr txBox="1"/>
          <p:nvPr/>
        </p:nvSpPr>
        <p:spPr>
          <a:xfrm>
            <a:off x="731520" y="960120"/>
            <a:ext cx="10728655" cy="822960"/>
          </a:xfrm>
          <a:prstGeom prst="rect">
            <a:avLst/>
          </a:prstGeom>
          <a:noFill/>
        </p:spPr>
        <p:txBody>
          <a:bodyPr wrap="square" lIns="0" rIns="0" tIns="0" bIns="0" anchor="t">
            <a:spAutoFit/>
          </a:bodyPr>
          <a:lstStyle/>
          <a:p>
            <a:pPr algn="l">
              <a:lnSpc>
                <a:spcPct val="115000"/>
              </a:lnSpc>
            </a:pPr>
            <a:r>
              <a:rPr sz="3200" b="1">
                <a:solidFill>
                  <a:srgbClr val="1F1F1E"/>
                </a:solidFill>
                <a:latin typeface="Calibri"/>
              </a:rPr>
              <a:t>Three things, in order</a:t>
            </a:r>
          </a:p>
        </p:txBody>
      </p:sp>
      <p:cxnSp>
        <p:nvCxnSpPr>
          <p:cNvPr id="5" name="Connector 4"/>
          <p:cNvCxnSpPr/>
          <p:nvPr/>
        </p:nvCxnSpPr>
        <p:spPr>
          <a:xfrm>
            <a:off x="731520" y="1783080"/>
            <a:ext cx="1371600" cy="0"/>
          </a:xfrm>
          <a:prstGeom prst="line">
            <a:avLst/>
          </a:prstGeom>
          <a:ln w="19050">
            <a:solidFill>
              <a:srgbClr val="D9775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2194560"/>
            <a:ext cx="731520" cy="731520"/>
          </a:xfrm>
          <a:prstGeom prst="rect">
            <a:avLst/>
          </a:prstGeom>
          <a:noFill/>
        </p:spPr>
        <p:txBody>
          <a:bodyPr wrap="square" lIns="0" rIns="0" tIns="0" bIns="0" anchor="t">
            <a:spAutoFit/>
          </a:bodyPr>
          <a:lstStyle/>
          <a:p>
            <a:pPr algn="l">
              <a:lnSpc>
                <a:spcPct val="115000"/>
              </a:lnSpc>
            </a:pPr>
            <a:r>
              <a:rPr sz="4600" b="1">
                <a:solidFill>
                  <a:srgbClr val="D97757"/>
                </a:solidFill>
                <a:latin typeface="Calibri"/>
              </a:rPr>
              <a:t>1</a:t>
            </a:r>
          </a:p>
        </p:txBody>
      </p:sp>
      <p:sp>
        <p:nvSpPr>
          <p:cNvPr id="7" name="TextBox 6"/>
          <p:cNvSpPr txBox="1"/>
          <p:nvPr/>
        </p:nvSpPr>
        <p:spPr>
          <a:xfrm>
            <a:off x="1554480" y="2194560"/>
            <a:ext cx="9905695" cy="365760"/>
          </a:xfrm>
          <a:prstGeom prst="rect">
            <a:avLst/>
          </a:prstGeom>
          <a:noFill/>
        </p:spPr>
        <p:txBody>
          <a:bodyPr wrap="square" lIns="0" rIns="0" tIns="0" bIns="0" anchor="t">
            <a:spAutoFit/>
          </a:bodyPr>
          <a:lstStyle/>
          <a:p>
            <a:pPr algn="l">
              <a:lnSpc>
                <a:spcPct val="115000"/>
              </a:lnSpc>
            </a:pPr>
            <a:r>
              <a:rPr sz="1800" b="1">
                <a:solidFill>
                  <a:srgbClr val="1F1F1E"/>
                </a:solidFill>
                <a:latin typeface="Calibri"/>
              </a:rPr>
              <a:t>Confirm the two unnamed systems</a:t>
            </a:r>
          </a:p>
        </p:txBody>
      </p:sp>
      <p:sp>
        <p:nvSpPr>
          <p:cNvPr id="8" name="TextBox 7"/>
          <p:cNvSpPr txBox="1"/>
          <p:nvPr/>
        </p:nvSpPr>
        <p:spPr>
          <a:xfrm>
            <a:off x="1554480" y="2651760"/>
            <a:ext cx="9905695" cy="640080"/>
          </a:xfrm>
          <a:prstGeom prst="rect">
            <a:avLst/>
          </a:prstGeom>
          <a:noFill/>
        </p:spPr>
        <p:txBody>
          <a:bodyPr wrap="square" lIns="0" rIns="0" tIns="0" bIns="0" anchor="t">
            <a:spAutoFit/>
          </a:bodyPr>
          <a:lstStyle/>
          <a:p>
            <a:pPr algn="l">
              <a:lnSpc>
                <a:spcPct val="135000"/>
              </a:lnSpc>
            </a:pPr>
            <a:r>
              <a:rPr sz="1300" b="0">
                <a:solidFill>
                  <a:srgbClr val="6B6A66"/>
                </a:solidFill>
                <a:latin typeface="Calibri"/>
              </a:rPr>
              <a:t>A 15-minute conversation with the HR Ops lead unlocks the benefits-enrolment capability.</a:t>
            </a:r>
          </a:p>
        </p:txBody>
      </p:sp>
      <p:sp>
        <p:nvSpPr>
          <p:cNvPr id="9" name="TextBox 8"/>
          <p:cNvSpPr txBox="1"/>
          <p:nvPr/>
        </p:nvSpPr>
        <p:spPr>
          <a:xfrm>
            <a:off x="731520" y="3383280"/>
            <a:ext cx="731520" cy="731520"/>
          </a:xfrm>
          <a:prstGeom prst="rect">
            <a:avLst/>
          </a:prstGeom>
          <a:noFill/>
        </p:spPr>
        <p:txBody>
          <a:bodyPr wrap="square" lIns="0" rIns="0" tIns="0" bIns="0" anchor="t">
            <a:spAutoFit/>
          </a:bodyPr>
          <a:lstStyle/>
          <a:p>
            <a:pPr algn="l">
              <a:lnSpc>
                <a:spcPct val="115000"/>
              </a:lnSpc>
            </a:pPr>
            <a:r>
              <a:rPr sz="4600" b="1">
                <a:solidFill>
                  <a:srgbClr val="D97757"/>
                </a:solidFill>
                <a:latin typeface="Calibri"/>
              </a:rPr>
              <a:t>2</a:t>
            </a:r>
          </a:p>
        </p:txBody>
      </p:sp>
      <p:sp>
        <p:nvSpPr>
          <p:cNvPr id="10" name="TextBox 9"/>
          <p:cNvSpPr txBox="1"/>
          <p:nvPr/>
        </p:nvSpPr>
        <p:spPr>
          <a:xfrm>
            <a:off x="1554480" y="3383280"/>
            <a:ext cx="9905695" cy="365760"/>
          </a:xfrm>
          <a:prstGeom prst="rect">
            <a:avLst/>
          </a:prstGeom>
          <a:noFill/>
        </p:spPr>
        <p:txBody>
          <a:bodyPr wrap="square" lIns="0" rIns="0" tIns="0" bIns="0" anchor="t">
            <a:spAutoFit/>
          </a:bodyPr>
          <a:lstStyle/>
          <a:p>
            <a:pPr algn="l">
              <a:lnSpc>
                <a:spcPct val="115000"/>
              </a:lnSpc>
            </a:pPr>
            <a:r>
              <a:rPr sz="1800" b="1">
                <a:solidFill>
                  <a:srgbClr val="1F1F1E"/>
                </a:solidFill>
                <a:latin typeface="Calibri"/>
              </a:rPr>
              <a:t>Validate one success-metric baseline</a:t>
            </a:r>
          </a:p>
        </p:txBody>
      </p:sp>
      <p:sp>
        <p:nvSpPr>
          <p:cNvPr id="11" name="TextBox 10"/>
          <p:cNvSpPr txBox="1"/>
          <p:nvPr/>
        </p:nvSpPr>
        <p:spPr>
          <a:xfrm>
            <a:off x="1554480" y="3840480"/>
            <a:ext cx="9905695" cy="640080"/>
          </a:xfrm>
          <a:prstGeom prst="rect">
            <a:avLst/>
          </a:prstGeom>
          <a:noFill/>
        </p:spPr>
        <p:txBody>
          <a:bodyPr wrap="square" lIns="0" rIns="0" tIns="0" bIns="0" anchor="t">
            <a:spAutoFit/>
          </a:bodyPr>
          <a:lstStyle/>
          <a:p>
            <a:pPr algn="l">
              <a:lnSpc>
                <a:spcPct val="135000"/>
              </a:lnSpc>
            </a:pPr>
            <a:r>
              <a:rPr sz="1300" b="0">
                <a:solidFill>
                  <a:srgbClr val="6B6A66"/>
                </a:solidFill>
                <a:latin typeface="Calibri"/>
              </a:rPr>
              <a:t>We need at least one current-state number (time per onboarding OR incomplete-at-day-14 rate) to anchor the business case.</a:t>
            </a:r>
          </a:p>
        </p:txBody>
      </p:sp>
      <p:sp>
        <p:nvSpPr>
          <p:cNvPr id="12" name="TextBox 11"/>
          <p:cNvSpPr txBox="1"/>
          <p:nvPr/>
        </p:nvSpPr>
        <p:spPr>
          <a:xfrm>
            <a:off x="731520" y="4572000"/>
            <a:ext cx="731520" cy="731520"/>
          </a:xfrm>
          <a:prstGeom prst="rect">
            <a:avLst/>
          </a:prstGeom>
          <a:noFill/>
        </p:spPr>
        <p:txBody>
          <a:bodyPr wrap="square" lIns="0" rIns="0" tIns="0" bIns="0" anchor="t">
            <a:spAutoFit/>
          </a:bodyPr>
          <a:lstStyle/>
          <a:p>
            <a:pPr algn="l">
              <a:lnSpc>
                <a:spcPct val="115000"/>
              </a:lnSpc>
            </a:pPr>
            <a:r>
              <a:rPr sz="4600" b="1">
                <a:solidFill>
                  <a:srgbClr val="D97757"/>
                </a:solidFill>
                <a:latin typeface="Calibri"/>
              </a:rPr>
              <a:t>3</a:t>
            </a:r>
          </a:p>
        </p:txBody>
      </p:sp>
      <p:sp>
        <p:nvSpPr>
          <p:cNvPr id="13" name="TextBox 12"/>
          <p:cNvSpPr txBox="1"/>
          <p:nvPr/>
        </p:nvSpPr>
        <p:spPr>
          <a:xfrm>
            <a:off x="1554480" y="4572000"/>
            <a:ext cx="9905695" cy="365760"/>
          </a:xfrm>
          <a:prstGeom prst="rect">
            <a:avLst/>
          </a:prstGeom>
          <a:noFill/>
        </p:spPr>
        <p:txBody>
          <a:bodyPr wrap="square" lIns="0" rIns="0" tIns="0" bIns="0" anchor="t">
            <a:spAutoFit/>
          </a:bodyPr>
          <a:lstStyle/>
          <a:p>
            <a:pPr algn="l">
              <a:lnSpc>
                <a:spcPct val="115000"/>
              </a:lnSpc>
            </a:pPr>
            <a:r>
              <a:rPr sz="1800" b="1">
                <a:solidFill>
                  <a:srgbClr val="1F1F1E"/>
                </a:solidFill>
                <a:latin typeface="Calibri"/>
              </a:rPr>
              <a:t>Green-light a 2-week build loop</a:t>
            </a:r>
          </a:p>
        </p:txBody>
      </p:sp>
      <p:sp>
        <p:nvSpPr>
          <p:cNvPr id="14" name="TextBox 13"/>
          <p:cNvSpPr txBox="1"/>
          <p:nvPr/>
        </p:nvSpPr>
        <p:spPr>
          <a:xfrm>
            <a:off x="1554480" y="5029200"/>
            <a:ext cx="9905695" cy="640080"/>
          </a:xfrm>
          <a:prstGeom prst="rect">
            <a:avLst/>
          </a:prstGeom>
          <a:noFill/>
        </p:spPr>
        <p:txBody>
          <a:bodyPr wrap="square" lIns="0" rIns="0" tIns="0" bIns="0" anchor="t">
            <a:spAutoFit/>
          </a:bodyPr>
          <a:lstStyle/>
          <a:p>
            <a:pPr algn="l">
              <a:lnSpc>
                <a:spcPct val="135000"/>
              </a:lnSpc>
            </a:pPr>
            <a:r>
              <a:rPr sz="1300" b="0">
                <a:solidFill>
                  <a:srgbClr val="6B6A66"/>
                </a:solidFill>
                <a:latin typeface="Calibri"/>
              </a:rPr>
              <a:t>With the above, we can build and demo the Orchestrator capability end-to-end against a sample onboarding.</a:t>
            </a:r>
          </a:p>
        </p:txBody>
      </p:sp>
      <p:sp>
        <p:nvSpPr>
          <p:cNvPr id="15" name="TextBox 14"/>
          <p:cNvSpPr txBox="1"/>
          <p:nvPr/>
        </p:nvSpPr>
        <p:spPr>
          <a:xfrm>
            <a:off x="11094415" y="6446520"/>
            <a:ext cx="822960" cy="274320"/>
          </a:xfrm>
          <a:prstGeom prst="rect">
            <a:avLst/>
          </a:prstGeom>
          <a:noFill/>
        </p:spPr>
        <p:txBody>
          <a:bodyPr wrap="square" lIns="0" rIns="0" tIns="0" bIns="0" anchor="t">
            <a:spAutoFit/>
          </a:bodyPr>
          <a:lstStyle/>
          <a:p>
            <a:pPr algn="r">
              <a:lnSpc>
                <a:spcPct val="115000"/>
              </a:lnSpc>
            </a:pPr>
            <a:r>
              <a:rPr sz="1000" b="0">
                <a:solidFill>
                  <a:srgbClr val="6B6A66"/>
                </a:solidFill>
                <a:latin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560320"/>
            <a:ext cx="822960" cy="73152"/>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834640"/>
            <a:ext cx="10728655" cy="1097280"/>
          </a:xfrm>
          <a:prstGeom prst="rect">
            <a:avLst/>
          </a:prstGeom>
          <a:noFill/>
        </p:spPr>
        <p:txBody>
          <a:bodyPr wrap="square" lIns="0" rIns="0" tIns="0" bIns="0" anchor="t">
            <a:spAutoFit/>
          </a:bodyPr>
          <a:lstStyle/>
          <a:p>
            <a:pPr algn="l">
              <a:lnSpc>
                <a:spcPct val="115000"/>
              </a:lnSpc>
            </a:pPr>
            <a:r>
              <a:rPr sz="4000" b="1">
                <a:solidFill>
                  <a:srgbClr val="1F1F1E"/>
                </a:solidFill>
                <a:latin typeface="Calibri"/>
              </a:rPr>
              <a:t>Questions, reactions, objections.</a:t>
            </a:r>
          </a:p>
        </p:txBody>
      </p:sp>
      <p:sp>
        <p:nvSpPr>
          <p:cNvPr id="5" name="TextBox 4"/>
          <p:cNvSpPr txBox="1"/>
          <p:nvPr/>
        </p:nvSpPr>
        <p:spPr>
          <a:xfrm>
            <a:off x="731520" y="3749039"/>
            <a:ext cx="10728655" cy="548640"/>
          </a:xfrm>
          <a:prstGeom prst="rect">
            <a:avLst/>
          </a:prstGeom>
          <a:noFill/>
        </p:spPr>
        <p:txBody>
          <a:bodyPr wrap="square" lIns="0" rIns="0" tIns="0" bIns="0" anchor="t">
            <a:spAutoFit/>
          </a:bodyPr>
          <a:lstStyle/>
          <a:p>
            <a:pPr algn="l">
              <a:lnSpc>
                <a:spcPct val="115000"/>
              </a:lnSpc>
            </a:pPr>
            <a:r>
              <a:rPr sz="1800" b="0">
                <a:solidFill>
                  <a:srgbClr val="6B6A66"/>
                </a:solidFill>
                <a:latin typeface="Calibri"/>
              </a:rPr>
              <a:t>The spec is a draft. Your pushback is what turns it into something buildable.</a:t>
            </a:r>
          </a:p>
        </p:txBody>
      </p:sp>
      <p:sp>
        <p:nvSpPr>
          <p:cNvPr id="6" name="TextBox 5"/>
          <p:cNvSpPr txBox="1"/>
          <p:nvPr/>
        </p:nvSpPr>
        <p:spPr>
          <a:xfrm>
            <a:off x="731520" y="6446520"/>
            <a:ext cx="7315200" cy="274320"/>
          </a:xfrm>
          <a:prstGeom prst="rect">
            <a:avLst/>
          </a:prstGeom>
          <a:noFill/>
        </p:spPr>
        <p:txBody>
          <a:bodyPr wrap="square" lIns="0" rIns="0" tIns="0" bIns="0" anchor="t">
            <a:spAutoFit/>
          </a:bodyPr>
          <a:lstStyle/>
          <a:p>
            <a:pPr algn="l">
              <a:lnSpc>
                <a:spcPct val="115000"/>
              </a:lnSpc>
            </a:pPr>
            <a:r>
              <a:rPr sz="1000" b="0">
                <a:solidFill>
                  <a:srgbClr val="6B6A66"/>
                </a:solidFill>
                <a:latin typeface="Calibri"/>
              </a:rPr>
              <a:t>Full spec: Spec-Generation/spec-hr-onboarding-coordination.md</a:t>
            </a:r>
          </a:p>
        </p:txBody>
      </p:sp>
      <p:sp>
        <p:nvSpPr>
          <p:cNvPr id="7" name="TextBox 6"/>
          <p:cNvSpPr txBox="1"/>
          <p:nvPr/>
        </p:nvSpPr>
        <p:spPr>
          <a:xfrm>
            <a:off x="11094415" y="6446520"/>
            <a:ext cx="822960" cy="274320"/>
          </a:xfrm>
          <a:prstGeom prst="rect">
            <a:avLst/>
          </a:prstGeom>
          <a:noFill/>
        </p:spPr>
        <p:txBody>
          <a:bodyPr wrap="square" lIns="0" rIns="0" tIns="0" bIns="0" anchor="t">
            <a:spAutoFit/>
          </a:bodyPr>
          <a:lstStyle/>
          <a:p>
            <a:pPr algn="r">
              <a:lnSpc>
                <a:spcPct val="115000"/>
              </a:lnSpc>
            </a:pPr>
            <a:r>
              <a:rPr sz="1000" b="0">
                <a:solidFill>
                  <a:srgbClr val="6B6A66"/>
                </a:solidFill>
                <a:latin typeface="Calibr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