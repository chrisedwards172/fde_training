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Onboarding Provisioning Coordinator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B4D8"/>
                </a:solidFill>
                <a:latin typeface="Calibri"/>
              </a:defRPr>
            </a:pPr>
            <a:r>
              <a:t>AI Agent Design for HR Ops — Aldridge &amp; Sykes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Prepared for: Priya Aggarwal, HR Ops Lead  |  Sponsor: CFO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FDE Assessment  •  Week 2 Practice  •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Onboarding delays are costing trust — and the CFO knows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029200" cy="384048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What's happening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• 3-person team managing ~190 setups/year across 4 offices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• 15% of hires are non-standard (conversions, rehires, secondments)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• Equipment spec changes happen silently — auto-routing fails 3–5×/year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• Tom Reeves waited 5 days for a laptop; the director emailed the CFO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• Priya's Excel tracker is the real system of record, not Workday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286000"/>
            <a:ext cx="5029200" cy="384048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A261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01752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• Consulting division generates the most complaints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• Silent failures erode trust — nobody knows until the hire complains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• Previous Power Automate attempt failed on contractors (2023)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• Priya spends ~1.5 hrs/case on monitoring and chasing — not judgment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• CFO mandate: "make the consulting directors stop complaining"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WHERE TO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Volume × Value: New-hire system setup is the primary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560320" cy="36576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56032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New-hire System</a:t>
            </a:r>
            <a:br/>
            <a:r>
              <a:t>&amp; Access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~190/yr  •  3 hrs/case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9D8F"/>
                </a:solidFill>
                <a:latin typeface="Calibri"/>
              </a:defRPr>
            </a:pPr>
            <a:r>
              <a:t>Score: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9D8F"/>
                </a:solidFill>
                <a:latin typeface="Calibri"/>
              </a:defRPr>
            </a:pPr>
            <a:r>
              <a:t>PRIMARY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103120"/>
            <a:ext cx="2560320" cy="36576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103120"/>
            <a:ext cx="256032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286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Compliance Training</a:t>
            </a:r>
            <a:br/>
            <a:r>
              <a:t>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~220/yr  •  45 min/case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A261"/>
                </a:solidFill>
                <a:latin typeface="Calibri"/>
              </a:defRPr>
            </a:pPr>
            <a:r>
              <a:t>Score: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  <a:latin typeface="Calibri"/>
              </a:defRPr>
            </a:pPr>
            <a:r>
              <a:t>WAVE 2 (Saba blocked)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103120"/>
            <a:ext cx="2560320" cy="36576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103120"/>
            <a:ext cx="2560320" cy="5486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286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Buddy Matching</a:t>
            </a:r>
            <a:br/>
            <a:r>
              <a:t>&amp; Welcome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~220/yr  •  90 min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88888"/>
                </a:solidFill>
                <a:latin typeface="Calibri"/>
              </a:defRPr>
            </a:pPr>
            <a:r>
              <a:t>Score: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88"/>
                </a:solidFill>
                <a:latin typeface="Calibri"/>
              </a:defRPr>
            </a:pPr>
            <a:r>
              <a:t>RULES / AUTOMATION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103120"/>
            <a:ext cx="2560320" cy="36576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2103120"/>
            <a:ext cx="2560320" cy="5486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286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Edge-case</a:t>
            </a:r>
            <a:br/>
            <a:r>
              <a:t>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~30–50/yr  •  4 hrs/case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88888"/>
                </a:solidFill>
                <a:latin typeface="Calibri"/>
              </a:defRPr>
            </a:pPr>
            <a:r>
              <a:t>Score: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88"/>
                </a:solidFill>
                <a:latin typeface="Calibri"/>
              </a:defRPr>
            </a:pPr>
            <a:r>
              <a:t>HUMAN + AGENT ASSIST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Agentic Value Score = Volume × Non-Deterministic Decision Effort (1–25 scale).  ≥8 = consider agentic.  System Setup wins on tool coverage + lived-work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DELEGATION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Not everything is agentic — and that's the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60320" cy="41148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56032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9D8F"/>
                </a:solidFill>
                <a:latin typeface="Calibri"/>
              </a:defRPr>
            </a:pPr>
            <a:r>
              <a:t>Fully 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AAAA"/>
                </a:solidFill>
                <a:latin typeface="Calibri"/>
              </a:defRPr>
            </a:pPr>
            <a:r>
              <a:t>1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DD"/>
                </a:solidFill>
                <a:latin typeface="Calibri"/>
              </a:defRPr>
            </a:pPr>
            <a:r>
              <a:t>Status monitoring</a:t>
            </a:r>
            <a:br/>
            <a:r>
              <a:t>(ServiceNow poll)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011680"/>
            <a:ext cx="2560320" cy="41148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011680"/>
            <a:ext cx="25603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Agent-led</a:t>
            </a:r>
            <a:br/>
            <a:r>
              <a:t>+ Human Oversight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AAAA"/>
                </a:solidFill>
                <a:latin typeface="Calibri"/>
              </a:defRPr>
            </a:pPr>
            <a:r>
              <a:t>4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3832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DD"/>
                </a:solidFill>
                <a:latin typeface="Calibri"/>
              </a:defRPr>
            </a:pPr>
            <a:r>
              <a:t>Routing override</a:t>
            </a:r>
            <a:br/>
            <a:r>
              <a:t>Tracker sync</a:t>
            </a:r>
            <a:br/>
            <a:r>
              <a:t>Standard routing</a:t>
            </a:r>
            <a:br/>
            <a:r>
              <a:t>Initial chase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011680"/>
            <a:ext cx="2560320" cy="41148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256032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A261"/>
                </a:solidFill>
                <a:latin typeface="Calibri"/>
              </a:defRPr>
            </a:pPr>
            <a:r>
              <a:t>Human-led</a:t>
            </a:r>
            <a:br/>
            <a:r>
              <a:t>+ Agent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AAAA"/>
                </a:solidFill>
                <a:latin typeface="Calibri"/>
              </a:defRPr>
            </a:pPr>
            <a:r>
              <a:t>5 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3832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DD"/>
                </a:solidFill>
                <a:latin typeface="Calibri"/>
              </a:defRPr>
            </a:pPr>
            <a:r>
              <a:t>Non-std classification</a:t>
            </a:r>
            <a:br/>
            <a:r>
              <a:t>Equipment spec</a:t>
            </a:r>
            <a:br/>
            <a:r>
              <a:t>Escalation priority</a:t>
            </a:r>
            <a:br/>
            <a:r>
              <a:t>Edge-case routing</a:t>
            </a:r>
            <a:br/>
            <a:r>
              <a:t>Manager escalation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011680"/>
            <a:ext cx="2560320" cy="41148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2011680"/>
            <a:ext cx="256032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6F51"/>
                </a:solidFill>
                <a:latin typeface="Calibri"/>
              </a:defRPr>
            </a:pPr>
            <a:r>
              <a:t>Human Only</a:t>
            </a:r>
            <a:br/>
            <a:r>
              <a:t>or RPA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AAAA"/>
                </a:solidFill>
                <a:latin typeface="Calibri"/>
              </a:defRPr>
            </a:pPr>
            <a:r>
              <a:t>3 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3832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DD"/>
                </a:solidFill>
                <a:latin typeface="Calibri"/>
              </a:defRPr>
            </a:pPr>
            <a:r>
              <a:t>Prior cert check</a:t>
            </a:r>
            <a:br/>
            <a:r>
              <a:t>Saba assignment</a:t>
            </a:r>
            <a:br/>
            <a:r>
              <a:t>Saba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5 different archetypes across 13 task clusters.  Previous Power Automate failure (2023) validated this: fully-agentic broke on contractors.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THE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Onboarding Provisioning Coordinator (OPC)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DDDDD"/>
                </a:solidFill>
                <a:latin typeface="Calibri"/>
              </a:defRPr>
            </a:pPr>
            <a:r>
              <a:t>Ensure every new hire has correct IT equipment, system access, and badge — detecting failures early and escalating with context before stakeholders complain.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10972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KPI TARGETS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Correct spec at</a:t>
            </a:r>
            <a:br/>
            <a:r>
              <a:t>ticket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297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Standard hires</a:t>
            </a:r>
            <a:br/>
            <a:r>
              <a:t>handled autonomously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24hr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Throughput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297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Max gap between</a:t>
            </a:r>
            <a:br/>
            <a:r>
              <a:t>status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9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≤£5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Cost/case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9" y="4297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Agent operational</a:t>
            </a:r>
            <a:br/>
            <a: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15–20%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HITL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297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Calibri"/>
              </a:defRPr>
            </a:pPr>
            <a:r>
              <a:t>Cases needing</a:t>
            </a:r>
            <a:br/>
            <a:r>
              <a:t>human decision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120640"/>
            <a:ext cx="10972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THREE OBJECTIVES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1. Eliminate silent provisioning failures — detect spec mismatches at ticket-creation time, not day 5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2. Reduce escalation cycle time — surface SLA breaches with context before the CFO gets involved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3. Free Priya from routine monitoring — reserve human attention for judgment calls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AUTONOMY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the agent decides alone vs what needs Priya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60320" cy="41148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56032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  <a:latin typeface="Calibri"/>
              </a:defRPr>
            </a:pPr>
            <a:r>
              <a:t>AGENT DECIDES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Monitor all ServiceNow tickets daily</a:t>
            </a:r>
          </a:p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Detect SLA breaches</a:t>
            </a:r>
          </a:p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Update tracker with current status</a:t>
            </a:r>
          </a:p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Daily sync (status + start date) → Workday</a:t>
            </a:r>
          </a:p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Raise tickets for standard FTEs (confidence ≥80%)</a:t>
            </a:r>
          </a:p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Validate location codes on tickets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011680"/>
            <a:ext cx="2560320" cy="41148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2011680"/>
            <a:ext cx="25603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Calibri"/>
              </a:defRPr>
            </a:pPr>
            <a:r>
              <a:t>AGENT ACTS → HUMAN NOTIFIED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974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One-level priority reset (P4→P3)</a:t>
            </a:r>
          </a:p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Flag Amber risk with reason</a:t>
            </a:r>
          </a:p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Auto-elevate on inbound stakeholder email</a:t>
            </a:r>
          </a:p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Manchester/Leeds building access via ServiceNow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2560320" cy="41148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011680"/>
            <a:ext cx="256032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A261"/>
                </a:solidFill>
                <a:latin typeface="Calibri"/>
              </a:defRPr>
            </a:pPr>
            <a:r>
              <a:t>AGENT PROPOSES → HUMAN APPROVES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974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Equipment spec for stale/unknown roles</a:t>
            </a:r>
          </a:p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Priority jump &gt;1 level (needs Priya)</a:t>
            </a:r>
          </a:p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Tickets for non-standard hire types</a:t>
            </a:r>
          </a:p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Red risk flag (Priya confirms)</a:t>
            </a:r>
          </a:p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Birmingham/Dublin building access (draft email)</a:t>
            </a:r>
          </a:p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Rehire sub-classification (reactivate vs new)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011680"/>
            <a:ext cx="2560320" cy="41148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2011680"/>
            <a:ext cx="256032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6F51"/>
                </a:solidFill>
                <a:latin typeface="Calibri"/>
              </a:defRPr>
            </a:pPr>
            <a:r>
              <a:t>HUMAN TAKES 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6974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Classify non-standard hires</a:t>
            </a:r>
          </a:p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CFO-level escalation calibration</a:t>
            </a:r>
          </a:p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ServiceNow/Workday data conflicts</a:t>
            </a:r>
          </a:p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Start date decisions</a:t>
            </a:r>
          </a:p>
          <a:p>
            <a:pPr>
              <a:spcAft>
                <a:spcPts val="800"/>
              </a:spcAft>
              <a:defRPr sz="1100">
                <a:solidFill>
                  <a:srgbClr val="DDDDDD"/>
                </a:solidFill>
                <a:latin typeface="Calibri"/>
              </a:defRPr>
            </a:pPr>
            <a:r>
              <a:t>• IT negotiation for record reactivation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ESCALATION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 triggers — each with a named target and urgency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5943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ET-1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103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Non-standard hire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Division coordinator</a:t>
            </a:r>
            <a:br/>
            <a:r>
              <a:t>(Dev or Sarah)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103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  <a:latin typeface="Calibri"/>
              </a:defRPr>
            </a:pPr>
            <a:r>
              <a:t>4 hours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10698480" cy="59436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ET-2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788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Spec/location confidence &lt;80%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Priya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  <a:latin typeface="Calibri"/>
              </a:defRPr>
            </a:pPr>
            <a:r>
              <a:t>Before ticket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83280"/>
            <a:ext cx="10698480" cy="5943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ET-3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474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SLA breach + high-sensitivity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Priya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474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  <a:latin typeface="Calibri"/>
              </a:defRPr>
            </a:pPr>
            <a:r>
              <a:t>Immediate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69080"/>
            <a:ext cx="10698480" cy="59436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605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ET-4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1605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Auto-routing mismatch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Division coordinator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160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  <a:latin typeface="Calibri"/>
              </a:defRPr>
            </a:pPr>
            <a:r>
              <a:t>2 hours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754880"/>
            <a:ext cx="10698480" cy="5943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463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ET-5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846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Priority jump &gt;1 level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46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Priya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846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  <a:latin typeface="Calibri"/>
              </a:defRPr>
            </a:pPr>
            <a:r>
              <a:t>Before action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440680"/>
            <a:ext cx="10698480" cy="59436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5321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ET-6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532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Agent confidence &lt;70%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32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Division coordinator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5532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  <a:latin typeface="Calibri"/>
              </a:defRPr>
            </a:pPr>
            <a:r>
              <a:t>Before action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6217920"/>
            <a:ext cx="106984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HIGH-SENSITIVITY AUTO-INFERENCE — confirmed with Priya: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6751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Consulting ≥ Manager → Amber baseline  |  Dublin → elevated  |  Partner-sponsored → Red from day one  |  Client-facing + imminent start → elevated  |  Inbound stakeholder email → auto-elevate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SYSTEMS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the agent connects to — and what's missing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Workday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9D8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57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Read + daily/weekly sync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42032"/>
            <a:ext cx="10698480" cy="4572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87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ServiceNow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87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587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9D8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87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Read/Write tickets (Mcr, Leeds)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72384"/>
            <a:ext cx="10698480" cy="4572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181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Master Tracker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1181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Graph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1181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A261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1181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Read/Write — stable but fragile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602736"/>
            <a:ext cx="10698480" cy="4572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484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Outlook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6484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Graph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6484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9D8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6484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Notifications + reactive signals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133087"/>
            <a:ext cx="10698480" cy="4572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7880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Spec + Location Repo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17880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New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1788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6F51"/>
                </a:solidFill>
                <a:latin typeface="Calibri"/>
              </a:defRPr>
            </a:pPr>
            <a:r>
              <a:t>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17880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Must create — critical dependency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7091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Birmingham Facilities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7091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Email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7091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A261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7091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Draft email → coordinator sends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193792"/>
            <a:ext cx="10698480" cy="4572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239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Dublin Office Mgr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52395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Email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5239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A261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2395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Draft email → coordinator sends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724144"/>
            <a:ext cx="10698480" cy="4572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7698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Saba LMS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576986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No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57698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88888"/>
                </a:solidFill>
                <a:latin typeface="Calibri"/>
              </a:defRPr>
            </a:pPr>
            <a:r>
              <a:t>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7698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Out of scope — Wave 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solidFill>
            <a:srgbClr val="3D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64465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6F51"/>
                </a:solidFill>
                <a:latin typeface="Calibri"/>
              </a:defRPr>
            </a:pPr>
            <a:r>
              <a:t>⚠  GOVERNANCE GAP: Nobody owns the routing-update chain (Procurement → IT → HR Ops). Agent detects mismatches but cannot fix root cause.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FAILURE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could go wrong — and how we recover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100584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6F51"/>
                </a:solidFill>
                <a:latin typeface="Calibri"/>
              </a:defRPr>
            </a:pPr>
            <a:r>
              <a:t>FM-1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Stale spec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Agent orders wrong equipment</a:t>
            </a:r>
            <a:br/>
            <a:r>
              <a:t>(same failure as today, now blamed on AI)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03120"/>
            <a:ext cx="9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1488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9D8F"/>
                </a:solidFill>
                <a:latin typeface="Calibri"/>
              </a:defRPr>
            </a:pPr>
            <a:r>
              <a:t>Timestamp every spec; escalate to human</a:t>
            </a:r>
            <a:br/>
            <a:r>
              <a:t>if &gt;90 days stale for consulting division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54680"/>
            <a:ext cx="10698480" cy="100584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6F51"/>
                </a:solidFill>
                <a:latin typeface="Calibri"/>
              </a:defRPr>
            </a:pPr>
            <a:r>
              <a:t>FM-2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False-positive SLA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611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Alert fatigue — Priya ignores</a:t>
            </a:r>
            <a:br/>
            <a:r>
              <a:t>agent notifications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46120"/>
            <a:ext cx="9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2918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9D8F"/>
                </a:solidFill>
                <a:latin typeface="Calibri"/>
              </a:defRPr>
            </a:pPr>
            <a:r>
              <a:t>Require 2 consecutive missed checkpoints;</a:t>
            </a:r>
            <a:br/>
            <a:r>
              <a:t>provide confidence score with each alert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10698480" cy="100584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6F51"/>
                </a:solidFill>
                <a:latin typeface="Calibri"/>
              </a:defRPr>
            </a:pPr>
            <a:r>
              <a:t>FM-3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Escalation without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754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Priya must investigate from scratch —</a:t>
            </a:r>
            <a:br/>
            <a:r>
              <a:t>adds work instead of saving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389120"/>
            <a:ext cx="9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9D8F"/>
                </a:solidFill>
                <a:latin typeface="Calibri"/>
              </a:defRPr>
            </a:pPr>
            <a:r>
              <a:t>Every escalation includes: hire profile,</a:t>
            </a:r>
            <a:br/>
            <a:r>
              <a:t>stakeholder context, timeline, recommended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440680"/>
            <a:ext cx="10698480" cy="100584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32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6F51"/>
                </a:solidFill>
                <a:latin typeface="Calibri"/>
              </a:defRPr>
            </a:pPr>
            <a:r>
              <a:t>FM-4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532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Agent acts beyond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897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Resets priority when reason was valid</a:t>
            </a:r>
            <a:br/>
            <a:r>
              <a:t>(e.g. start date pushed back)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532120"/>
            <a:ext cx="9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5778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9D8F"/>
                </a:solidFill>
                <a:latin typeface="Calibri"/>
              </a:defRPr>
            </a:pPr>
            <a:r>
              <a:t>Priority jumps &gt;1 level require Priya's</a:t>
            </a:r>
            <a:br/>
            <a:r>
              <a:t>approval before execution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Three waves — Wave 1 funds the 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474720" cy="41148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47472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A9D8F"/>
                </a:solidFill>
                <a:latin typeface="Calibri"/>
              </a:defRPr>
            </a:pPr>
            <a:r>
              <a:t>WAVE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Self-funding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Onboarding Provisioning Coordinator (OPC)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Workday + ServiceNow API integrations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Equipment Spec + Location Repository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Master Tracker interface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Escalation context assembly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  <a:latin typeface="Calibri"/>
              </a:defRPr>
            </a:pPr>
            <a:r>
              <a:t>Target: ≤12 month payback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011680"/>
            <a:ext cx="3474720" cy="41148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011680"/>
            <a:ext cx="347472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A261"/>
                </a:solidFill>
                <a:latin typeface="Calibri"/>
              </a:defRPr>
            </a:pPr>
            <a:r>
              <a:t>WAVE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Compounding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1089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Compliance training routing agent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Saba LMS workaround (RPA or integration)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Routing rules engine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Reuses Wave 1 Workday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669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A261"/>
                </a:solidFill>
                <a:latin typeface="Calibri"/>
              </a:defRPr>
            </a:pPr>
            <a:r>
              <a:t>Requires: Saba access 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011680"/>
            <a:ext cx="3474720" cy="41148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011680"/>
            <a:ext cx="3474720" cy="5486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88888"/>
                </a:solidFill>
                <a:latin typeface="Calibri"/>
              </a:defRPr>
            </a:pPr>
            <a:r>
              <a:t>WAVE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Calibri"/>
              </a:defRPr>
            </a:pPr>
            <a:r>
              <a:t>AI-native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1089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Buddy matching automation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Edge-case agent assist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Multi-agent coordination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Reuses all Wave 1–2 assets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669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88"/>
                </a:solidFill>
                <a:latin typeface="Calibri"/>
              </a:defRPr>
            </a:pPr>
            <a:r>
              <a:t>Lower priority; reuses all prior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Compounding thesis: each wave builds shared integrations (Workday API, ServiceNow API, Graph API, Tracker interface) that reduce marginal cost of subsequent agents.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OPEN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Honest unknowns — what we still need from you and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303520" cy="43891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9D8F"/>
                </a:solidFill>
                <a:latin typeface="Calibri"/>
              </a:defRPr>
            </a:pPr>
            <a:r>
              <a:t>CONFIRMED (from Priya)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✓  Routing failures are recurring (~3–5/yr), cross-division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✓  Escalation patterns are codifiable (consulting, Dublin, partner)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✓  Tracker layout stable ~2 years; header-based reading works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✓  HR Ops can modify tickets but not routing config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✓  Building access varies by office (ServiceNow / email)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✓  Coordinator assignment by division (Dev / Sarah)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✓  Daily lightweight sync + weekly full reconciliation preferred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✓  Power Automate failed on non-standard hires (2023)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303520" cy="43891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530352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Calibri"/>
              </a:defRPr>
            </a:pPr>
            <a:r>
              <a:t>STILL TO CONFIRM (IT / Finance)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060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?  Workday API field availability (hire type, employment history)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?  ServiceNow API service account permissions for HR Ops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?  Saba LMS bulk upload or RPA tolerance (Wave 2)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?  Fully loaded HR Ops hourly cost (for ROI model)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?  SSO/RBAC constraints on service accounts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?  SLA fulfilment windows per ticket type (estimated, not confirmed)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?  Spec confidence scoring weights (initial estimates, needs tuning)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Every unknown is logged as an assumption with a confidence level and a test. We don't bluff — we mark what we don't know.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we need from you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IT Discovery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743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Confirm Workday API fields, ServiceNow service account, and SLA windows with Raj (HRIS) and IT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4A261"/>
                </a:solidFill>
                <a:latin typeface="Calibri"/>
              </a:defRPr>
            </a:pPr>
            <a:r>
              <a:t>This week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Spec Repository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94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Build the equipment spec + location-code repository as a SharePoint List; populate with current specs from each division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4A261"/>
                </a:solidFill>
                <a:latin typeface="Calibri"/>
              </a:defRPr>
            </a:pPr>
            <a:r>
              <a:t>2 weeks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10698480" cy="9144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4805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Governance 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846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Propose a quarterly routing-review process linking Procurement → IT → HR Ops so spec changes trigger routing updates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4A261"/>
                </a:solidFill>
                <a:latin typeface="Calibri"/>
              </a:defRPr>
            </a:pPr>
            <a:r>
              <a:t>Present to CFO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440679"/>
            <a:ext cx="10698480" cy="9144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5321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OPC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89787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Build and test against 10 real onboarding cases (recent, with known outcomes) — validate accuracy and HITL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6235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4A261"/>
                </a:solidFill>
                <a:latin typeface="Calibri"/>
              </a:defRPr>
            </a:pPr>
            <a:r>
              <a:t>4 weeks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