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Calibri"/>
              </a:defRPr>
            </a:pPr>
            <a:r>
              <a:t>Dispatcher Decision Support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00B4D8"/>
                </a:solidFill>
                <a:latin typeface="Calibri"/>
              </a:defRPr>
            </a:pPr>
            <a:r>
              <a:t>Agentic Transformation of Customer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AAAA"/>
                </a:solidFill>
                <a:latin typeface="Calibri"/>
              </a:defRPr>
            </a:pPr>
            <a:r>
              <a:t>Apex Distribution Ltd  |  35-person Customer Ops  |  4 Work Streams Assessed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88"/>
                </a:solidFill>
                <a:latin typeface="Calibri"/>
              </a:defRPr>
            </a:pPr>
            <a:r>
              <a:t>Prepared for: Sarah Whitmore, COO  •  Gate 2  •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CUSTOMER OPERATIONS — 4 WORK STREAMS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All assessed. One wins on Volume × Value. Here's why.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2560320" cy="45720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28800"/>
            <a:ext cx="256032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Delivery</a:t>
            </a:r>
            <a:br/>
            <a:r>
              <a:t>Exceptions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180/day • 12 min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A9D8F"/>
                </a:solidFill>
                <a:latin typeface="Calibri"/>
              </a:defRPr>
            </a:pPr>
            <a:r>
              <a:t>Score: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A9D8F"/>
                </a:solidFill>
                <a:latin typeface="Calibri"/>
              </a:defRPr>
            </a:pPr>
            <a:r>
              <a:t>PRIMARY TARGET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High judgment, time-critical,</a:t>
            </a:r>
            <a:br/>
            <a:r>
              <a:t>CRM + Driver App APIs available,</a:t>
            </a:r>
            <a:br/>
            <a:r>
              <a:t>no Aurum dependency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828800"/>
            <a:ext cx="2560320" cy="45720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828800"/>
            <a:ext cx="2560320" cy="5486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40" y="19659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ETA</a:t>
            </a:r>
            <a:br/>
            <a:r>
              <a:t>Inquiries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4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400/day • 4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88888"/>
                </a:solidFill>
                <a:latin typeface="Calibri"/>
              </a:defRPr>
            </a:pPr>
            <a:r>
              <a:t>Score: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40" y="3931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88"/>
                </a:solidFill>
                <a:latin typeface="Calibri"/>
              </a:defRPr>
            </a:pPr>
            <a:r>
              <a:t>AUTOMATION / RPA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40" y="44805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Mostly deterministic lookup.</a:t>
            </a:r>
            <a:br/>
            <a:r>
              <a:t>Not agentic — standard RPA.</a:t>
            </a:r>
            <a:br/>
            <a:r>
              <a:t>Edge cases only need human.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828800"/>
            <a:ext cx="2560320" cy="45720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0" y="1828800"/>
            <a:ext cx="256032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0" y="19659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Dispatch</a:t>
            </a:r>
            <a:br/>
            <a:r>
              <a:t>Adjustments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90/day • 18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4A261"/>
                </a:solidFill>
                <a:latin typeface="Calibri"/>
              </a:defRPr>
            </a:pPr>
            <a:r>
              <a:t>Score: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931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4A261"/>
                </a:solidFill>
                <a:latin typeface="Calibri"/>
              </a:defRPr>
            </a:pPr>
            <a:r>
              <a:t>WAVE 2 (API blocked)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4805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High value but dispatch console</a:t>
            </a:r>
            <a:br/>
            <a:r>
              <a:t>has limited API. Blocked until</a:t>
            </a:r>
            <a:br/>
            <a:r>
              <a:t>integration path confirmed.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828800"/>
            <a:ext cx="2560320" cy="45720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235440" y="1828800"/>
            <a:ext cx="2560320" cy="54864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18320" y="1965960"/>
            <a:ext cx="2194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Billing</a:t>
            </a:r>
            <a:br/>
            <a:r>
              <a:t>Disputes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8320" y="28346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60/day • 28 min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29184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88888"/>
                </a:solidFill>
                <a:latin typeface="Calibri"/>
              </a:defRPr>
            </a:pPr>
            <a:r>
              <a:t>Score: 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393192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88888"/>
                </a:solidFill>
                <a:latin typeface="Calibri"/>
              </a:defRPr>
            </a:pPr>
            <a:r>
              <a:t>AGENT-ASSIST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18320" y="44805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BB"/>
                </a:solidFill>
                <a:latin typeface="Calibri"/>
              </a:defRPr>
            </a:pPr>
            <a:r>
              <a:t>Aurum = batch-only, schema breaks.</a:t>
            </a:r>
            <a:br/>
            <a:r>
              <a:t>RPA already failed here. Credit</a:t>
            </a:r>
            <a:br/>
            <a:r>
              <a:t>decisions need policy first.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Score = Execution Frequency (1–5) × Non-Deterministic Decision Effort (1–5). ETA is high-volume but low-judgment. Billing is high-effort but Aurum-blocked.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6F51"/>
                </a:solidFill>
                <a:latin typeface="Calibri"/>
              </a:defRPr>
            </a:pPr>
            <a:r>
              <a:t>BEFORE — DELIVERY EXCEPTIONS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180/day. 12 min/case. Dispatchers spend 5 min on lookup before they can think.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303520" cy="43891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30352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6F51"/>
                </a:solidFill>
                <a:latin typeface="Calibri"/>
              </a:defRPr>
            </a:pPr>
            <a:r>
              <a:t>What dispatchers do (lived, not SOP)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Driver calls/voicemails dispatch with exception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Dispatcher opens 3 systems: CRM, dispatch console, GPS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Pulls route, account, history — ~5 min context assembly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Triage decision under time pressure (driver parked)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Verbal instruction back to driver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Exception logged in console (often delayed/forgotten)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No pattern visibility — each case isolated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SOP is stale: DispatchHub retired Oct 2024; §4.3 = 'TBD'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303520" cy="43891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530352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A261"/>
                </a:solidFill>
                <a:latin typeface="Calibri"/>
              </a:defRPr>
            </a:pPr>
            <a:r>
              <a:t>Bottlenecks &amp; failure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060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36 person-hours/day on exceptions alone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~15 hrs/day on context assembly (not judgment)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Mark parked 15+ min — Sandra's line busy, 6 drops late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Account sensitivity lives in heads ('the big one')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No damage protocol — §4.3 empty since 2023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Dispatch console: Citrix/Java, limited API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Driver-vs-customer conflict with zero visual evidence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No escalation protocol beyond stale £500 threshold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9D8F"/>
                </a:solidFill>
                <a:latin typeface="Calibri"/>
              </a:defRPr>
            </a:pPr>
            <a:r>
              <a:t>AFTER — WITH THE DDSA IN PLACE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Agent assembles context in &lt;30s — dispatchers focus on judgment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920240"/>
            <a:ext cx="3474720" cy="45720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920240"/>
            <a:ext cx="347472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A9D8F"/>
                </a:solidFill>
                <a:latin typeface="Calibri"/>
              </a:defRPr>
            </a:pPr>
            <a:r>
              <a:t>AGENT DECIDES ALONE</a:t>
            </a:r>
            <a:br/>
            <a:r>
              <a:t>(context assembly)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Detect inbound exception signal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Pull account record from CRM (API)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Pull route data + GPS position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Calculate route pressure score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Classify account sensitivity (rule-based)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Assemble context card (&lt;30s SLA)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Queue priority if driver wait &gt;15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920240"/>
            <a:ext cx="3474720" cy="45720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480559" y="1920240"/>
            <a:ext cx="347472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0574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Calibri"/>
              </a:defRPr>
            </a:pPr>
            <a:r>
              <a:t>HUMAN-LED + AGENT SUPPORT</a:t>
            </a:r>
            <a:br/>
            <a:r>
              <a:t>(triage decision)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7432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Present triage options with trade-offs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Surface 'repeat pattern' alert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Propose Duty Manager escalation (&gt;£500)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Flag unauthorised refusing party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Dispatcher decides: return/leave/hold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Dispatcher instructs driver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Dispatcher logs and escalates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920240"/>
            <a:ext cx="3474720" cy="45720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1920240"/>
            <a:ext cx="347472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205740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A261"/>
                </a:solidFill>
                <a:latin typeface="Calibri"/>
              </a:defRPr>
            </a:pPr>
            <a:r>
              <a:t>HUMAN-ONLY</a:t>
            </a:r>
            <a:br/>
            <a:r>
              <a:t>(cannot be delegated)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43200"/>
            <a:ext cx="3108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Assess damage credibility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  → verbal-only, no photos, liability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Decide credit amounts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  → no policy exists; pure discretion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WHY: Input Structure = L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Decision Determinism = L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Risk/Compliance = 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88888"/>
                </a:solidFill>
                <a:latin typeface="Calibri"/>
              </a:defRPr>
            </a:pPr>
            <a:r>
              <a:t>Zero tasks are fully agentic end-to-end. This is a decision-support agent — not a chatbot, not RPA. Makes dispatchers faster, not redundant.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THE AGENT — DDSA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Dispatcher Decision Support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DD"/>
                </a:solidFill>
                <a:latin typeface="Calibri"/>
              </a:defRPr>
            </a:pPr>
            <a:r>
              <a:t>Job: Assemble decision context (account, route, history, value) in seconds not minutes,</a:t>
            </a:r>
            <a:br/>
            <a:r>
              <a:t>so dispatchers make better triage calls faster. The agent does NOT make triage decisions.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10972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880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KPI TARGETS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&lt;30s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Context</a:t>
            </a:r>
            <a:br/>
            <a:r>
              <a:t>Assembly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Signal to 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840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Context</a:t>
            </a:r>
            <a:br/>
            <a:r>
              <a:t>Completeness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389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No manual lookup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3840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Dispatcher</a:t>
            </a:r>
            <a:br/>
            <a:r>
              <a:t>Adoption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4389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Within 4 weeks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199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25%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199" y="3840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Handling Time</a:t>
            </a:r>
            <a:br/>
            <a:r>
              <a:t>Reduction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199" y="4389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12 min → 9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09760" y="32004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B4D8"/>
                </a:solidFill>
                <a:latin typeface="Calibri"/>
              </a:defRPr>
            </a:pPr>
            <a:r>
              <a:t>&lt;10%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84048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False-Alert</a:t>
            </a:r>
            <a:br/>
            <a:r>
              <a:t>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38912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AAAAA"/>
                </a:solidFill>
                <a:latin typeface="Calibri"/>
              </a:defRPr>
            </a:pPr>
            <a:r>
              <a:t>Flags overridden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029200"/>
            <a:ext cx="109728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WHY THIS AVOIDS PRIOR FAILURE MODES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4864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1. Not a chatbot — internal tool for dispatchers, not customer-facing. 2024 chatbot failure won't repeat.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2. Doesn't touch Aurum — avoids schema fragility that killed the RPA project. Zero legacy dependency.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3. Human stays in the loop — agent supports, never decides. Sarah's team keeps authority, gains speed.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DEFENDING THE DELEGATION CALLS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Why context assembly is safe to fully delegate — and why triage is not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698480" cy="10515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Calibri"/>
              </a:defRPr>
            </a:pPr>
            <a:r>
              <a:t>Why is context assembly safe for full delegation?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Read-only lookup across CRM + Driver App + GPS. No judgment, no customer contact, no financial impact.</a:t>
            </a:r>
            <a:br/>
            <a:r>
              <a:t>Input Structure = H. Decision Determinism = H. Risk = L. Reversible (card can refresh).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017520"/>
            <a:ext cx="10698480" cy="10515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39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Calibri"/>
              </a:defRPr>
            </a:pPr>
            <a:r>
              <a:t>Why isn't the triage decision itself agentic?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29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Input Structure = L (verbal-only driver signal). Decision Determinism = L (every refusal is different).</a:t>
            </a:r>
            <a:br/>
            <a:r>
              <a:t>Risk = H (wrong call = lost £2K pallet or lost key account). No visual evidence. Liability sits with human.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206240"/>
            <a:ext cx="10698480" cy="10515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251959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Calibri"/>
              </a:defRPr>
            </a:pPr>
            <a:r>
              <a:t>Why is credit amount human-only, not even agent-assisted?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61772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No documented credit policy exists. Sandra chose £170/£340 (50%) with no formula. Another credit was £88 — also no rule.</a:t>
            </a:r>
            <a:br/>
            <a:r>
              <a:t>Until a policy exists, any agent suggestion creates compliance risk. Adjacent archetype rejected.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94960"/>
            <a:ext cx="10698480" cy="10515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Calibri"/>
              </a:defRPr>
            </a:pPr>
            <a:r>
              <a:t>What about the dispatch console's limited API?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806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Primary integration risk. If route data inaccessible → context card shows 'Route: unavailable'.</a:t>
            </a:r>
            <a:br/>
            <a:r>
              <a:t>Agent degrades gracefully — never blocks dispatcher. Partial card &gt; no card.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Calibri"/>
              </a:defRPr>
            </a:pPr>
            <a:r>
              <a:t>BILLING DISPUTES — WHY NOT PRIMARY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Mapped in D1, scored in D2 — deliberately NOT chosen for Wave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303520" cy="43891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30352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6F51"/>
                </a:solidFill>
                <a:latin typeface="Calibri"/>
              </a:defRPr>
            </a:pPr>
            <a:r>
              <a:t>What the cognitive map revealed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60/day, 28 min/case = 28 person-hours/day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9-day resolution cycle (Artefact 2)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Billing deflects to Ops; customer re-explains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Sandra applies credits via manual override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No audit trail (untracked £170 goodwill credit)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No credit policy — amount is pure discretion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Cross-references delivery exceptions ↔ invoices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Aurum: batch-only, 24h lag, schema changes quarterly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303520" cy="43891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530352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4A261"/>
                </a:solidFill>
                <a:latin typeface="Calibri"/>
              </a:defRPr>
            </a:pPr>
            <a:r>
              <a:t>Why it loses + Wave 2 plan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60604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Aurum has NO API — RPA already failed here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Schema changes quarterly without notice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Credit decisions = Human-only (no policy)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V×V score: 10 vs 16 for Exceptions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Wave 2 agent-assist opportunity: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  → Dispute type classification (Agent-led)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  → Invoice-to-exception cross-reference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  → Customer notification drafting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  → Requires: credit policy + Aurum API/wrapper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Calibri"/>
              </a:defRPr>
            </a:pPr>
            <a:r>
              <a:t>COO QUESTION — 3 MINUTES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question that would most change my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10698480" cy="13716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103120"/>
            <a:ext cx="1069848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286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Calibri"/>
              </a:defRPr>
            </a:pPr>
            <a:r>
              <a:t>THE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"When Mark called in about the Stein-Allen pallet — how long did it take Sandra to pull up his route, the account, and decide what to tell him? Roughly?"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749039"/>
            <a:ext cx="5120640" cy="27432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9D8F"/>
                </a:solidFill>
                <a:latin typeface="Calibri"/>
              </a:defRPr>
            </a:pPr>
            <a:r>
              <a:t>Why this question matters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9768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Entire DDSA value prop rests on context assembly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  taking ~5 min of 12 min/case [ASSUMED — A4]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If actually 1 min (Sandra knows routes cold),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  agent saves negligible time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• KPI target (25% reduction) only works if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  context assembly IS the bottleneck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3749039"/>
            <a:ext cx="5303520" cy="27432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38404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What changes based on the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297680"/>
            <a:ext cx="49377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If &gt;5 min → design validated, proceed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If 2–5 min → still viable, adjust KPI targets down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If &lt;2 min → pivot value prop from speed to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  pattern detection (repeat accounts, trends)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If 'it varies' → push for new-dispatcher vs</a:t>
            </a:r>
          </a:p>
          <a:p>
            <a:pPr>
              <a:spcAft>
                <a:spcPts val="800"/>
              </a:spcAft>
              <a:defRPr sz="1300">
                <a:solidFill>
                  <a:srgbClr val="DDDDDD"/>
                </a:solidFill>
                <a:latin typeface="Calibri"/>
              </a:defRPr>
            </a:pPr>
            <a:r>
              <a:t>  experienced-dispatcher split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Calibri"/>
              </a:defRPr>
            </a:pPr>
            <a:r>
              <a:t>COO QUESTION — FOLLOW-UP PROBES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How to push if Sarah hedges or deflects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10698480" cy="10515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A261"/>
                </a:solidFill>
                <a:latin typeface="Calibri"/>
              </a:defRPr>
            </a:pPr>
            <a:r>
              <a:t>If she says 'it varies':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"Two cases — fastest and slowest. For a dispatcher here 6 months vs Sandra who knows everything — how different?"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New-dispatcher time validates agent value; experienced time shows the ceiling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017520"/>
            <a:ext cx="10698480" cy="10515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63239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A261"/>
                </a:solidFill>
                <a:latin typeface="Calibri"/>
              </a:defRPr>
            </a:pPr>
            <a:r>
              <a:t>If she says 'Sandra just knows':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383279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"What about when Sandra's not there? Mark couldn't reach her. What happens to the others?"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94759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Tests whether problem is team-wide or Sandra-specific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206240"/>
            <a:ext cx="10698480" cy="10515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251959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A261"/>
                </a:solidFill>
                <a:latin typeface="Calibri"/>
              </a:defRPr>
            </a:pPr>
            <a:r>
              <a:t>If she gives a number: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"How much is looking things up vs actually thinking? I want the lookup time separately."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83479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Separates context assembly (agent can help) from judgment (agent cannot)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5394960"/>
            <a:ext cx="10698480" cy="10515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544068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A261"/>
                </a:solidFill>
                <a:latin typeface="Calibri"/>
              </a:defRPr>
            </a:pPr>
            <a:r>
              <a:t>If she pushes back ('why does that matter?'):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7607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  <a:latin typeface="Calibri"/>
              </a:defRPr>
            </a:pPr>
            <a:r>
              <a:t>"My design is a context tool, not a decision tool. If lookup isn't the bottleneck, I'm solving the wrong problem."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1722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AAAAA"/>
                </a:solidFill>
                <a:latin typeface="Calibri"/>
              </a:defRPr>
            </a:pPr>
            <a:r>
              <a:t>Shows honesty — builds trust by admitting design could be wrong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  <a:latin typeface="Calibri"/>
              </a:defRPr>
            </a:pPr>
            <a:r>
              <a:t>COACH Q&amp;A — TOP DISCOVERY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Questions whose answers would materially change the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77724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9D8F"/>
                </a:solidFill>
                <a:latin typeface="Calibri"/>
              </a:defRPr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03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Context assembly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23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How long does context assembly actually take? (A4 — entire value prop depends on this)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926080"/>
            <a:ext cx="10698480" cy="77724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0175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9D8F"/>
                </a:solidFill>
                <a:latin typeface="Calibri"/>
              </a:defRPr>
            </a:pPr>
            <a:r>
              <a:t>Q2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0175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Driver App API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337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Can the Driver App push signals outward? (S1 — real-time triggering depends on this)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10698480" cy="77724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Q3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9319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Dispatch console API surface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51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What can we read from the Java/Citrix console? (S2 — route data accessibility)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10698480" cy="77724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46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Q4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8463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£500 escalation threshold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28800" y="51663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Is the SOP threshold still real? (A7 — ET-1 built around this number)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669280"/>
            <a:ext cx="10698480" cy="77724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760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Calibri"/>
              </a:defRPr>
            </a:pPr>
            <a:r>
              <a:t>Q5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0" y="57607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killed prior AI projects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6080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Chatbot + RPA — technology failure or team rejection? (A9 — adoption risk)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Priority 1 (Q1–Q2): design-breaking if wrong.  Priority 2 (Q3–Q5): design-changing but recoverable.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  <a:latin typeface="Calibri"/>
              </a:defRPr>
            </a:pPr>
            <a:r>
              <a:t>ASSUMPTIONS TO DEFEND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assumptions — confidence levels and what breaks if wrong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10698480" cy="457200"/>
          </a:xfrm>
          <a:prstGeom prst="rect">
            <a:avLst/>
          </a:prstGeom>
          <a:solidFill>
            <a:srgbClr val="1522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Calibri"/>
              </a:defRPr>
            </a:pPr>
            <a: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0574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Calibri"/>
              </a:defRPr>
            </a:pPr>
            <a:r>
              <a:t>Confidence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20574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Calibri"/>
              </a:defRPr>
            </a:pPr>
            <a:r>
              <a:t>Assumption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057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B4D8"/>
                </a:solidFill>
                <a:latin typeface="Calibri"/>
              </a:defRPr>
            </a:pPr>
            <a:r>
              <a:t>If wrong, what breaks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560320"/>
            <a:ext cx="10698480" cy="6858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697479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2697479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A261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6974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Context assembly takes ~5 min of 12 min/case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0" y="2697479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Agent value shifts from speed → pattern detection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337560"/>
            <a:ext cx="10698480" cy="6858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47472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A261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34747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Driver App has outbound API/webhook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4747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Need polling fallback (+2–5 min latency)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114800"/>
            <a:ext cx="10698480" cy="6858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5196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42519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6F51"/>
                </a:solidFill>
                <a:latin typeface="Calibri"/>
              </a:defRPr>
            </a:pPr>
            <a: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251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Dispatch console has read API for route data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42519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Route pressure score unavailable; partial card only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892040"/>
            <a:ext cx="10698480" cy="685800"/>
          </a:xfrm>
          <a:prstGeom prst="rect">
            <a:avLst/>
          </a:prstGeom>
          <a:solidFill>
            <a:srgbClr val="1E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029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502920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A261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50292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Account sensitivity is informal (not in system)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0" y="502920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If it IS flagged: agent classification is redundant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" y="5669279"/>
            <a:ext cx="10698480" cy="68580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80644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580644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4A261"/>
                </a:solidFill>
                <a:latin typeface="Calibri"/>
              </a:defRPr>
            </a:pPr>
            <a:r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017520" y="5806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Sarah's scepticism = customer-facing AI only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0" y="580644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AAAAA"/>
                </a:solidFill>
                <a:latin typeface="Calibri"/>
              </a:defRPr>
            </a:pPr>
            <a:r>
              <a:t>If extends to internal: adoption risk is existential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88"/>
                </a:solidFill>
                <a:latin typeface="Calibri"/>
              </a:defRPr>
            </a:pPr>
            <a:r>
              <a:t>No assumption is 'High' confidence — all require validation. High = coach-session-validated only.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86AB"/>
                </a:solidFill>
                <a:latin typeface="Calibri"/>
              </a:defRPr>
            </a:pPr>
            <a:r>
              <a:t>HONEST GAPS &amp; TRADE-OFFS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What I don't know — and what I'd change with more information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011680"/>
            <a:ext cx="5303520" cy="21031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2011680"/>
            <a:ext cx="5303520" cy="54864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6F51"/>
                </a:solidFill>
                <a:latin typeface="Calibri"/>
              </a:defRPr>
            </a:pPr>
            <a:r>
              <a:t>KNOWN GAPS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Only mapped 2 of 4 work streams in depth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Consignment value source unknown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Voicemail vs app channel split not confirmed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No data on exception type breakdown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Dispatch console API surface unverified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2011680"/>
            <a:ext cx="5303520" cy="210312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2011680"/>
            <a:ext cx="5303520" cy="54864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488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4A261"/>
                </a:solidFill>
                <a:latin typeface="Calibri"/>
              </a:defRPr>
            </a:pPr>
            <a:r>
              <a:t>DELIBERATE TRADE-OFFS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60320"/>
            <a:ext cx="4937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Support-agent over autonomous: politically safer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Avoided Aurum entirely: RPA failure lesson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Conservative sensitivity rule: fewer alerts &gt; noise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Wave 1 avoids deep console integration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Billing disputes deferred to Wave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89120"/>
            <a:ext cx="10698480" cy="2194560"/>
          </a:xfrm>
          <a:prstGeom prst="rect">
            <a:avLst/>
          </a:prstGeom>
          <a:solidFill>
            <a:srgbClr val="223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389120"/>
            <a:ext cx="1069848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A9D8F"/>
                </a:solidFill>
                <a:latin typeface="Calibri"/>
              </a:defRPr>
            </a:pPr>
            <a:r>
              <a:t>IF SARAH'S ANSWERS CHANGE MY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Context assembly &lt;2 min → pivot to pattern detection agent (repeat accounts, escalation prediction)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Driver App has no API → voicemail transcription as primary signal; accept 2–5 min latency; redesign SLA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Dispatch console fully locked → remove route pressure from card; derive rough data from GPS only</a:t>
            </a:r>
          </a:p>
          <a:p>
            <a:pPr>
              <a:spcAft>
                <a:spcPts val="800"/>
              </a:spcAft>
              <a:defRPr sz="1200">
                <a:solidFill>
                  <a:srgbClr val="DDDDDD"/>
                </a:solidFill>
                <a:latin typeface="Calibri"/>
              </a:defRPr>
            </a:pPr>
            <a:r>
              <a:t>• Sarah's scepticism extends to internal tools → need dispatcher champion program BEFORE building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